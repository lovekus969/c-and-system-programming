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notesMasterIdLst>
    <p:notesMasterId r:id="rId14"/>
  </p:notesMasterIdLst>
  <p:sldIdLst>
    <p:sldId id="256" r:id="rId2"/>
    <p:sldId id="257" r:id="rId3"/>
    <p:sldId id="274" r:id="rId4"/>
    <p:sldId id="265" r:id="rId5"/>
    <p:sldId id="268" r:id="rId6"/>
    <p:sldId id="266" r:id="rId7"/>
    <p:sldId id="267" r:id="rId8"/>
    <p:sldId id="271" r:id="rId9"/>
    <p:sldId id="270" r:id="rId10"/>
    <p:sldId id="272" r:id="rId11"/>
    <p:sldId id="269" r:id="rId12"/>
    <p:sldId id="27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54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1AA8FC-B6D7-462E-A54D-A2462B0A9CFE}" type="datetimeFigureOut">
              <a:rPr lang="en-CA" smtClean="0"/>
              <a:t>2025-11-24</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9B9AAC-9F97-4763-9F63-5D04AAD09B86}" type="slidenum">
              <a:rPr lang="en-CA" smtClean="0"/>
              <a:t>‹#›</a:t>
            </a:fld>
            <a:endParaRPr lang="en-CA"/>
          </a:p>
        </p:txBody>
      </p:sp>
    </p:spTree>
    <p:extLst>
      <p:ext uri="{BB962C8B-B14F-4D97-AF65-F5344CB8AC3E}">
        <p14:creationId xmlns:p14="http://schemas.microsoft.com/office/powerpoint/2010/main" val="1437512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89B9AAC-9F97-4763-9F63-5D04AAD09B86}" type="slidenum">
              <a:rPr lang="en-CA" smtClean="0"/>
              <a:t>4</a:t>
            </a:fld>
            <a:endParaRPr lang="en-CA"/>
          </a:p>
        </p:txBody>
      </p:sp>
    </p:spTree>
    <p:extLst>
      <p:ext uri="{BB962C8B-B14F-4D97-AF65-F5344CB8AC3E}">
        <p14:creationId xmlns:p14="http://schemas.microsoft.com/office/powerpoint/2010/main" val="4143984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D5B92-95C6-E2BE-39B0-72E36EB67E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7EAB5B-ED08-69BD-1D10-ADA088EDDF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BCC0D4-4518-3420-3ED6-DE8CFB74D2F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D9E5A719-3D0C-672F-7C21-ACCE927FE569}"/>
              </a:ext>
            </a:extLst>
          </p:cNvPr>
          <p:cNvSpPr>
            <a:spLocks noGrp="1"/>
          </p:cNvSpPr>
          <p:nvPr>
            <p:ph type="sldNum" sz="quarter" idx="5"/>
          </p:nvPr>
        </p:nvSpPr>
        <p:spPr/>
        <p:txBody>
          <a:bodyPr/>
          <a:lstStyle/>
          <a:p>
            <a:fld id="{C89B9AAC-9F97-4763-9F63-5D04AAD09B86}" type="slidenum">
              <a:rPr lang="en-CA" smtClean="0"/>
              <a:t>5</a:t>
            </a:fld>
            <a:endParaRPr lang="en-CA"/>
          </a:p>
        </p:txBody>
      </p:sp>
    </p:spTree>
    <p:extLst>
      <p:ext uri="{BB962C8B-B14F-4D97-AF65-F5344CB8AC3E}">
        <p14:creationId xmlns:p14="http://schemas.microsoft.com/office/powerpoint/2010/main" val="20236596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89B9AAC-9F97-4763-9F63-5D04AAD09B86}" type="slidenum">
              <a:rPr lang="en-CA" smtClean="0"/>
              <a:t>12</a:t>
            </a:fld>
            <a:endParaRPr lang="en-CA"/>
          </a:p>
        </p:txBody>
      </p:sp>
    </p:spTree>
    <p:extLst>
      <p:ext uri="{BB962C8B-B14F-4D97-AF65-F5344CB8AC3E}">
        <p14:creationId xmlns:p14="http://schemas.microsoft.com/office/powerpoint/2010/main" val="1181005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3543B3-E73B-452A-8611-F48B2E7EECC7}" type="datetimeFigureOut">
              <a:rPr lang="en-CA" smtClean="0"/>
              <a:t>2025-11-24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D73446E-A141-407F-8879-D9BE2AF4E140}" type="slidenum">
              <a:rPr lang="en-CA" smtClean="0"/>
              <a:t>‹#›</a:t>
            </a:fld>
            <a:endParaRPr lang="en-CA"/>
          </a:p>
        </p:txBody>
      </p:sp>
    </p:spTree>
    <p:extLst>
      <p:ext uri="{BB962C8B-B14F-4D97-AF65-F5344CB8AC3E}">
        <p14:creationId xmlns:p14="http://schemas.microsoft.com/office/powerpoint/2010/main" val="1325311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543B3-E73B-452A-8611-F48B2E7EECC7}" type="datetimeFigureOut">
              <a:rPr lang="en-CA" smtClean="0"/>
              <a:t>2025-11-24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D73446E-A141-407F-8879-D9BE2AF4E140}" type="slidenum">
              <a:rPr lang="en-CA" smtClean="0"/>
              <a:t>‹#›</a:t>
            </a:fld>
            <a:endParaRPr lang="en-CA"/>
          </a:p>
        </p:txBody>
      </p:sp>
    </p:spTree>
    <p:extLst>
      <p:ext uri="{BB962C8B-B14F-4D97-AF65-F5344CB8AC3E}">
        <p14:creationId xmlns:p14="http://schemas.microsoft.com/office/powerpoint/2010/main" val="517692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3543B3-E73B-452A-8611-F48B2E7EECC7}" type="datetimeFigureOut">
              <a:rPr lang="en-CA" smtClean="0"/>
              <a:t>2025-11-24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D73446E-A141-407F-8879-D9BE2AF4E140}" type="slidenum">
              <a:rPr lang="en-CA" smtClean="0"/>
              <a:t>‹#›</a:t>
            </a:fld>
            <a:endParaRPr lang="en-CA"/>
          </a:p>
        </p:txBody>
      </p:sp>
    </p:spTree>
    <p:extLst>
      <p:ext uri="{BB962C8B-B14F-4D97-AF65-F5344CB8AC3E}">
        <p14:creationId xmlns:p14="http://schemas.microsoft.com/office/powerpoint/2010/main" val="3714266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3543B3-E73B-452A-8611-F48B2E7EECC7}" type="datetimeFigureOut">
              <a:rPr lang="en-CA" smtClean="0"/>
              <a:t>2025-11-24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D73446E-A141-407F-8879-D9BE2AF4E140}" type="slidenum">
              <a:rPr lang="en-CA" smtClean="0"/>
              <a:t>‹#›</a:t>
            </a:fld>
            <a:endParaRPr lang="en-CA"/>
          </a:p>
        </p:txBody>
      </p:sp>
    </p:spTree>
    <p:extLst>
      <p:ext uri="{BB962C8B-B14F-4D97-AF65-F5344CB8AC3E}">
        <p14:creationId xmlns:p14="http://schemas.microsoft.com/office/powerpoint/2010/main" val="2183644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3543B3-E73B-452A-8611-F48B2E7EECC7}" type="datetimeFigureOut">
              <a:rPr lang="en-CA" smtClean="0"/>
              <a:t>2025-11-24</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6D73446E-A141-407F-8879-D9BE2AF4E140}" type="slidenum">
              <a:rPr lang="en-CA" smtClean="0"/>
              <a:t>‹#›</a:t>
            </a:fld>
            <a:endParaRPr lang="en-CA"/>
          </a:p>
        </p:txBody>
      </p:sp>
    </p:spTree>
    <p:extLst>
      <p:ext uri="{BB962C8B-B14F-4D97-AF65-F5344CB8AC3E}">
        <p14:creationId xmlns:p14="http://schemas.microsoft.com/office/powerpoint/2010/main" val="884394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3543B3-E73B-452A-8611-F48B2E7EECC7}" type="datetimeFigureOut">
              <a:rPr lang="en-CA" smtClean="0"/>
              <a:t>2025-11-24</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6D73446E-A141-407F-8879-D9BE2AF4E140}" type="slidenum">
              <a:rPr lang="en-CA" smtClean="0"/>
              <a:t>‹#›</a:t>
            </a:fld>
            <a:endParaRPr lang="en-CA"/>
          </a:p>
        </p:txBody>
      </p:sp>
    </p:spTree>
    <p:extLst>
      <p:ext uri="{BB962C8B-B14F-4D97-AF65-F5344CB8AC3E}">
        <p14:creationId xmlns:p14="http://schemas.microsoft.com/office/powerpoint/2010/main" val="1478750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3543B3-E73B-452A-8611-F48B2E7EECC7}" type="datetimeFigureOut">
              <a:rPr lang="en-CA" smtClean="0"/>
              <a:t>2025-11-24</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6D73446E-A141-407F-8879-D9BE2AF4E140}" type="slidenum">
              <a:rPr lang="en-CA" smtClean="0"/>
              <a:t>‹#›</a:t>
            </a:fld>
            <a:endParaRPr lang="en-CA"/>
          </a:p>
        </p:txBody>
      </p:sp>
    </p:spTree>
    <p:extLst>
      <p:ext uri="{BB962C8B-B14F-4D97-AF65-F5344CB8AC3E}">
        <p14:creationId xmlns:p14="http://schemas.microsoft.com/office/powerpoint/2010/main" val="181348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3543B3-E73B-452A-8611-F48B2E7EECC7}" type="datetimeFigureOut">
              <a:rPr lang="en-CA" smtClean="0"/>
              <a:t>2025-11-24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D73446E-A141-407F-8879-D9BE2AF4E140}" type="slidenum">
              <a:rPr lang="en-CA" smtClean="0"/>
              <a:t>‹#›</a:t>
            </a:fld>
            <a:endParaRPr lang="en-CA"/>
          </a:p>
        </p:txBody>
      </p:sp>
    </p:spTree>
    <p:extLst>
      <p:ext uri="{BB962C8B-B14F-4D97-AF65-F5344CB8AC3E}">
        <p14:creationId xmlns:p14="http://schemas.microsoft.com/office/powerpoint/2010/main" val="2841666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D73446E-A141-407F-8879-D9BE2AF4E140}" type="slidenum">
              <a:rPr lang="en-CA" smtClean="0"/>
              <a:t>‹#›</a:t>
            </a:fld>
            <a:endParaRPr lang="en-CA"/>
          </a:p>
        </p:txBody>
      </p:sp>
      <p:sp>
        <p:nvSpPr>
          <p:cNvPr id="5" name="Date Placeholder 4"/>
          <p:cNvSpPr>
            <a:spLocks noGrp="1"/>
          </p:cNvSpPr>
          <p:nvPr>
            <p:ph type="dt" sz="half" idx="10"/>
          </p:nvPr>
        </p:nvSpPr>
        <p:spPr/>
        <p:txBody>
          <a:bodyPr/>
          <a:lstStyle/>
          <a:p>
            <a:fld id="{143543B3-E73B-452A-8611-F48B2E7EECC7}" type="datetimeFigureOut">
              <a:rPr lang="en-CA" smtClean="0"/>
              <a:t>2025-11-24</a:t>
            </a:fld>
            <a:endParaRPr lang="en-CA"/>
          </a:p>
        </p:txBody>
      </p:sp>
    </p:spTree>
    <p:extLst>
      <p:ext uri="{BB962C8B-B14F-4D97-AF65-F5344CB8AC3E}">
        <p14:creationId xmlns:p14="http://schemas.microsoft.com/office/powerpoint/2010/main" val="3007069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3543B3-E73B-452A-8611-F48B2E7EECC7}" type="datetimeFigureOut">
              <a:rPr lang="en-CA" smtClean="0"/>
              <a:t>2025-11-24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D73446E-A141-407F-8879-D9BE2AF4E140}" type="slidenum">
              <a:rPr lang="en-CA" smtClean="0"/>
              <a:t>‹#›</a:t>
            </a:fld>
            <a:endParaRPr lang="en-CA"/>
          </a:p>
        </p:txBody>
      </p:sp>
    </p:spTree>
    <p:extLst>
      <p:ext uri="{BB962C8B-B14F-4D97-AF65-F5344CB8AC3E}">
        <p14:creationId xmlns:p14="http://schemas.microsoft.com/office/powerpoint/2010/main" val="860177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3543B3-E73B-452A-8611-F48B2E7EECC7}" type="datetimeFigureOut">
              <a:rPr lang="en-CA" smtClean="0"/>
              <a:t>2025-11-24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D73446E-A141-407F-8879-D9BE2AF4E140}" type="slidenum">
              <a:rPr lang="en-CA" smtClean="0"/>
              <a:t>‹#›</a:t>
            </a:fld>
            <a:endParaRPr lang="en-CA"/>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986629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3543B3-E73B-452A-8611-F48B2E7EECC7}" type="datetimeFigureOut">
              <a:rPr lang="en-CA" smtClean="0"/>
              <a:t>2025-11-24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D73446E-A141-407F-8879-D9BE2AF4E140}" type="slidenum">
              <a:rPr lang="en-CA" smtClean="0"/>
              <a:t>‹#›</a:t>
            </a:fld>
            <a:endParaRPr lang="en-CA"/>
          </a:p>
        </p:txBody>
      </p:sp>
    </p:spTree>
    <p:extLst>
      <p:ext uri="{BB962C8B-B14F-4D97-AF65-F5344CB8AC3E}">
        <p14:creationId xmlns:p14="http://schemas.microsoft.com/office/powerpoint/2010/main" val="7786994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3543B3-E73B-452A-8611-F48B2E7EECC7}" type="datetimeFigureOut">
              <a:rPr lang="en-CA" smtClean="0"/>
              <a:t>2025-11-24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D73446E-A141-407F-8879-D9BE2AF4E140}" type="slidenum">
              <a:rPr lang="en-CA" smtClean="0"/>
              <a:t>‹#›</a:t>
            </a:fld>
            <a:endParaRPr lang="en-CA"/>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989914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3543B3-E73B-452A-8611-F48B2E7EECC7}" type="datetimeFigureOut">
              <a:rPr lang="en-CA" smtClean="0"/>
              <a:t>2025-11-24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D73446E-A141-407F-8879-D9BE2AF4E140}" type="slidenum">
              <a:rPr lang="en-CA" smtClean="0"/>
              <a:t>‹#›</a:t>
            </a:fld>
            <a:endParaRPr lang="en-CA"/>
          </a:p>
        </p:txBody>
      </p:sp>
    </p:spTree>
    <p:extLst>
      <p:ext uri="{BB962C8B-B14F-4D97-AF65-F5344CB8AC3E}">
        <p14:creationId xmlns:p14="http://schemas.microsoft.com/office/powerpoint/2010/main" val="27025628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543B3-E73B-452A-8611-F48B2E7EECC7}" type="datetimeFigureOut">
              <a:rPr lang="en-CA" smtClean="0"/>
              <a:t>2025-11-24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D73446E-A141-407F-8879-D9BE2AF4E140}" type="slidenum">
              <a:rPr lang="en-CA" smtClean="0"/>
              <a:t>‹#›</a:t>
            </a:fld>
            <a:endParaRPr lang="en-CA"/>
          </a:p>
        </p:txBody>
      </p:sp>
    </p:spTree>
    <p:extLst>
      <p:ext uri="{BB962C8B-B14F-4D97-AF65-F5344CB8AC3E}">
        <p14:creationId xmlns:p14="http://schemas.microsoft.com/office/powerpoint/2010/main" val="16729291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543B3-E73B-452A-8611-F48B2E7EECC7}" type="datetimeFigureOut">
              <a:rPr lang="en-CA" smtClean="0"/>
              <a:t>2025-11-24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D73446E-A141-407F-8879-D9BE2AF4E140}" type="slidenum">
              <a:rPr lang="en-CA" smtClean="0"/>
              <a:t>‹#›</a:t>
            </a:fld>
            <a:endParaRPr lang="en-CA"/>
          </a:p>
        </p:txBody>
      </p:sp>
    </p:spTree>
    <p:extLst>
      <p:ext uri="{BB962C8B-B14F-4D97-AF65-F5344CB8AC3E}">
        <p14:creationId xmlns:p14="http://schemas.microsoft.com/office/powerpoint/2010/main" val="2194311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43543B3-E73B-452A-8611-F48B2E7EECC7}" type="datetimeFigureOut">
              <a:rPr lang="en-CA" smtClean="0"/>
              <a:t>2025-11-24</a:t>
            </a:fld>
            <a:endParaRPr lang="en-CA"/>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73446E-A141-407F-8879-D9BE2AF4E140}" type="slidenum">
              <a:rPr lang="en-CA" smtClean="0"/>
              <a:t>‹#›</a:t>
            </a:fld>
            <a:endParaRPr lang="en-CA"/>
          </a:p>
        </p:txBody>
      </p:sp>
    </p:spTree>
    <p:extLst>
      <p:ext uri="{BB962C8B-B14F-4D97-AF65-F5344CB8AC3E}">
        <p14:creationId xmlns:p14="http://schemas.microsoft.com/office/powerpoint/2010/main" val="1789406424"/>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9B9D1CA-91CD-B0A0-F2DA-4C2641C1B79E}"/>
              </a:ext>
            </a:extLst>
          </p:cNvPr>
          <p:cNvSpPr/>
          <p:nvPr/>
        </p:nvSpPr>
        <p:spPr>
          <a:xfrm>
            <a:off x="253385" y="798703"/>
            <a:ext cx="11644447" cy="30720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b">
            <a:normAutofit fontScale="85000" lnSpcReduction="10000"/>
          </a:bodyPr>
          <a:lstStyle/>
          <a:p>
            <a:pPr algn="ctr">
              <a:lnSpc>
                <a:spcPct val="90000"/>
              </a:lnSpc>
              <a:spcBef>
                <a:spcPct val="0"/>
              </a:spcBef>
              <a:spcAft>
                <a:spcPts val="600"/>
              </a:spcAft>
            </a:pPr>
            <a:r>
              <a:rPr lang="en-US" sz="9400" b="1" dirty="0">
                <a:solidFill>
                  <a:schemeClr val="bg1"/>
                </a:solidFill>
                <a:latin typeface="Times New Roman" panose="02020603050405020304" pitchFamily="18" charset="0"/>
                <a:ea typeface="+mj-ea"/>
                <a:cs typeface="Times New Roman" panose="02020603050405020304" pitchFamily="18" charset="0"/>
              </a:rPr>
              <a:t>COSC2396</a:t>
            </a:r>
          </a:p>
          <a:p>
            <a:pPr algn="ctr">
              <a:lnSpc>
                <a:spcPct val="90000"/>
              </a:lnSpc>
              <a:spcBef>
                <a:spcPct val="0"/>
              </a:spcBef>
              <a:spcAft>
                <a:spcPts val="600"/>
              </a:spcAft>
            </a:pPr>
            <a:r>
              <a:rPr lang="en-US" sz="6500" b="1" kern="1200" dirty="0">
                <a:solidFill>
                  <a:schemeClr val="bg1"/>
                </a:solidFill>
                <a:latin typeface="Times New Roman" panose="02020603050405020304" pitchFamily="18" charset="0"/>
                <a:ea typeface="+mj-ea"/>
                <a:cs typeface="Times New Roman" panose="02020603050405020304" pitchFamily="18" charset="0"/>
              </a:rPr>
              <a:t>UNIX and C Systems Programming</a:t>
            </a:r>
          </a:p>
          <a:p>
            <a:pPr algn="ctr">
              <a:lnSpc>
                <a:spcPct val="90000"/>
              </a:lnSpc>
              <a:spcBef>
                <a:spcPct val="0"/>
              </a:spcBef>
              <a:spcAft>
                <a:spcPts val="600"/>
              </a:spcAft>
            </a:pPr>
            <a:r>
              <a:rPr lang="en-US" sz="6500" b="1" dirty="0">
                <a:solidFill>
                  <a:schemeClr val="bg1"/>
                </a:solidFill>
                <a:latin typeface="Times New Roman" panose="02020603050405020304" pitchFamily="18" charset="0"/>
                <a:ea typeface="+mj-ea"/>
                <a:cs typeface="Times New Roman" panose="02020603050405020304" pitchFamily="18" charset="0"/>
              </a:rPr>
              <a:t>Fall 2025</a:t>
            </a:r>
            <a:endParaRPr lang="en-US" sz="6500" b="1" kern="1200" dirty="0">
              <a:solidFill>
                <a:schemeClr val="bg1"/>
              </a:solidFill>
              <a:latin typeface="Times New Roman" panose="02020603050405020304" pitchFamily="18" charset="0"/>
              <a:ea typeface="+mj-ea"/>
              <a:cs typeface="Times New Roman" panose="02020603050405020304" pitchFamily="18" charset="0"/>
            </a:endParaRPr>
          </a:p>
        </p:txBody>
      </p:sp>
      <p:sp>
        <p:nvSpPr>
          <p:cNvPr id="10" name="Rectangle 9">
            <a:extLst>
              <a:ext uri="{FF2B5EF4-FFF2-40B4-BE49-F238E27FC236}">
                <a16:creationId xmlns:a16="http://schemas.microsoft.com/office/drawing/2014/main" id="{6027383F-568D-40C3-95DA-9708BF22443E}"/>
              </a:ext>
            </a:extLst>
          </p:cNvPr>
          <p:cNvSpPr/>
          <p:nvPr/>
        </p:nvSpPr>
        <p:spPr>
          <a:xfrm>
            <a:off x="2477385" y="3962792"/>
            <a:ext cx="7953155" cy="21021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chorCtr="0">
            <a:normAutofit/>
          </a:bodyPr>
          <a:lstStyle/>
          <a:p>
            <a:pPr algn="ctr">
              <a:lnSpc>
                <a:spcPct val="90000"/>
              </a:lnSpc>
              <a:spcBef>
                <a:spcPts val="1000"/>
              </a:spcBef>
            </a:pPr>
            <a:r>
              <a:rPr lang="en-US" sz="4000" b="1" kern="1200" dirty="0">
                <a:solidFill>
                  <a:schemeClr val="tx1"/>
                </a:solidFill>
                <a:latin typeface="Script MT Bold" panose="03040602040607080904" pitchFamily="66" charset="0"/>
                <a:cs typeface="Arial" panose="020B0604020202020204" pitchFamily="34" charset="0"/>
              </a:rPr>
              <a:t>Subhendu Bhadra</a:t>
            </a:r>
          </a:p>
        </p:txBody>
      </p:sp>
      <p:sp>
        <p:nvSpPr>
          <p:cNvPr id="9" name="TextBox 8">
            <a:extLst>
              <a:ext uri="{FF2B5EF4-FFF2-40B4-BE49-F238E27FC236}">
                <a16:creationId xmlns:a16="http://schemas.microsoft.com/office/drawing/2014/main" id="{8BA2CF89-881C-0A2E-F7E2-0515E27EBF94}"/>
              </a:ext>
            </a:extLst>
          </p:cNvPr>
          <p:cNvSpPr txBox="1"/>
          <p:nvPr/>
        </p:nvSpPr>
        <p:spPr>
          <a:xfrm>
            <a:off x="7262037" y="4912242"/>
            <a:ext cx="4210493" cy="1307805"/>
          </a:xfrm>
          <a:prstGeom prst="rect">
            <a:avLst/>
          </a:prstGeom>
          <a:noFill/>
        </p:spPr>
        <p:txBody>
          <a:bodyPr wrap="square" rtlCol="0">
            <a:spAutoFit/>
          </a:bodyPr>
          <a:lstStyle/>
          <a:p>
            <a:endParaRPr lang="en-CA" dirty="0"/>
          </a:p>
        </p:txBody>
      </p:sp>
    </p:spTree>
    <p:extLst>
      <p:ext uri="{BB962C8B-B14F-4D97-AF65-F5344CB8AC3E}">
        <p14:creationId xmlns:p14="http://schemas.microsoft.com/office/powerpoint/2010/main" val="959945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A06B8BE2-FB2F-5FC9-D431-E42ADC5F0486}"/>
              </a:ext>
            </a:extLst>
          </p:cNvPr>
          <p:cNvSpPr txBox="1">
            <a:spLocks noChangeArrowheads="1"/>
          </p:cNvSpPr>
          <p:nvPr/>
        </p:nvSpPr>
        <p:spPr>
          <a:xfrm>
            <a:off x="720000" y="1079998"/>
            <a:ext cx="10800000" cy="56291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0"/>
              </a:spcBef>
            </a:pPr>
            <a:r>
              <a:rPr lang="en-US" altLang="en-US" dirty="0">
                <a:latin typeface="Arial" panose="020B0604020202020204" pitchFamily="34" charset="0"/>
                <a:cs typeface="Arial" panose="020B0604020202020204" pitchFamily="34" charset="0"/>
              </a:rPr>
              <a:t>Section 3 (Unix Systems Programming):</a:t>
            </a:r>
          </a:p>
          <a:p>
            <a:pPr algn="l">
              <a:lnSpc>
                <a:spcPct val="100000"/>
              </a:lnSpc>
              <a:spcBef>
                <a:spcPts val="0"/>
              </a:spcBef>
            </a:pPr>
            <a:r>
              <a:rPr lang="en-US" altLang="en-US" dirty="0">
                <a:latin typeface="Arial" panose="020B0604020202020204" pitchFamily="34" charset="0"/>
                <a:cs typeface="Arial" panose="020B0604020202020204" pitchFamily="34" charset="0"/>
              </a:rPr>
              <a:t>	1. Process creation</a:t>
            </a:r>
          </a:p>
          <a:p>
            <a:pPr algn="l">
              <a:lnSpc>
                <a:spcPct val="100000"/>
              </a:lnSpc>
              <a:spcBef>
                <a:spcPts val="0"/>
              </a:spcBef>
            </a:pPr>
            <a:r>
              <a:rPr lang="en-US" altLang="en-US" dirty="0">
                <a:latin typeface="Arial" panose="020B0604020202020204" pitchFamily="34" charset="0"/>
                <a:cs typeface="Arial" panose="020B0604020202020204" pitchFamily="34" charset="0"/>
              </a:rPr>
              <a:t>	2. Signals</a:t>
            </a:r>
          </a:p>
          <a:p>
            <a:pPr algn="l">
              <a:lnSpc>
                <a:spcPct val="100000"/>
              </a:lnSpc>
              <a:spcBef>
                <a:spcPts val="0"/>
              </a:spcBef>
            </a:pPr>
            <a:r>
              <a:rPr lang="en-US" altLang="en-US" dirty="0">
                <a:latin typeface="Arial" panose="020B0604020202020204" pitchFamily="34" charset="0"/>
                <a:cs typeface="Arial" panose="020B0604020202020204" pitchFamily="34" charset="0"/>
              </a:rPr>
              <a:t>           3. Inter-process communications</a:t>
            </a:r>
          </a:p>
          <a:p>
            <a:pPr algn="l">
              <a:lnSpc>
                <a:spcPct val="100000"/>
              </a:lnSpc>
              <a:spcBef>
                <a:spcPts val="0"/>
              </a:spcBef>
            </a:pPr>
            <a:r>
              <a:rPr lang="en-US" altLang="en-US" dirty="0">
                <a:latin typeface="Arial" panose="020B0604020202020204" pitchFamily="34" charset="0"/>
                <a:cs typeface="Arial" panose="020B0604020202020204" pitchFamily="34" charset="0"/>
              </a:rPr>
              <a:t>	4. Sockets</a:t>
            </a:r>
          </a:p>
          <a:p>
            <a:pPr algn="l">
              <a:lnSpc>
                <a:spcPct val="100000"/>
              </a:lnSpc>
              <a:spcBef>
                <a:spcPts val="0"/>
              </a:spcBef>
            </a:pPr>
            <a:r>
              <a:rPr lang="en-US" altLang="en-US" dirty="0">
                <a:latin typeface="Arial" panose="020B0604020202020204" pitchFamily="34" charset="0"/>
                <a:cs typeface="Arial" panose="020B0604020202020204" pitchFamily="34" charset="0"/>
              </a:rPr>
              <a:t>	5. Multi-Threading</a:t>
            </a:r>
          </a:p>
          <a:p>
            <a:pPr algn="l">
              <a:lnSpc>
                <a:spcPct val="100000"/>
              </a:lnSpc>
              <a:spcBef>
                <a:spcPts val="0"/>
              </a:spcBef>
            </a:pPr>
            <a:r>
              <a:rPr lang="en-US" altLang="en-US" dirty="0">
                <a:latin typeface="Arial" panose="020B0604020202020204" pitchFamily="34" charset="0"/>
                <a:cs typeface="Arial" panose="020B0604020202020204" pitchFamily="34" charset="0"/>
              </a:rPr>
              <a:t>	6. Pipes</a:t>
            </a:r>
          </a:p>
        </p:txBody>
      </p:sp>
      <p:sp>
        <p:nvSpPr>
          <p:cNvPr id="5" name="Rectangle 6">
            <a:extLst>
              <a:ext uri="{FF2B5EF4-FFF2-40B4-BE49-F238E27FC236}">
                <a16:creationId xmlns:a16="http://schemas.microsoft.com/office/drawing/2014/main" id="{25491A36-3E44-4549-61F3-8AA657686710}"/>
              </a:ext>
            </a:extLst>
          </p:cNvPr>
          <p:cNvSpPr txBox="1">
            <a:spLocks noChangeArrowheads="1"/>
          </p:cNvSpPr>
          <p:nvPr/>
        </p:nvSpPr>
        <p:spPr>
          <a:xfrm>
            <a:off x="720000" y="359999"/>
            <a:ext cx="10800000" cy="7200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4000" dirty="0">
                <a:latin typeface="Arial" panose="020B0604020202020204" pitchFamily="34" charset="0"/>
                <a:cs typeface="Arial" panose="020B0604020202020204" pitchFamily="34" charset="0"/>
              </a:rPr>
              <a:t>Topics – Section 3</a:t>
            </a:r>
          </a:p>
        </p:txBody>
      </p:sp>
    </p:spTree>
    <p:extLst>
      <p:ext uri="{BB962C8B-B14F-4D97-AF65-F5344CB8AC3E}">
        <p14:creationId xmlns:p14="http://schemas.microsoft.com/office/powerpoint/2010/main" val="521644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A06B8BE2-FB2F-5FC9-D431-E42ADC5F0486}"/>
              </a:ext>
            </a:extLst>
          </p:cNvPr>
          <p:cNvSpPr txBox="1">
            <a:spLocks noChangeArrowheads="1"/>
          </p:cNvSpPr>
          <p:nvPr/>
        </p:nvSpPr>
        <p:spPr>
          <a:xfrm>
            <a:off x="720000" y="1079999"/>
            <a:ext cx="10800000" cy="54000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altLang="en-US" sz="3000" dirty="0">
              <a:latin typeface="Arial" panose="020B0604020202020204" pitchFamily="34" charset="0"/>
              <a:cs typeface="Arial" panose="020B0604020202020204" pitchFamily="34" charset="0"/>
            </a:endParaRPr>
          </a:p>
        </p:txBody>
      </p:sp>
      <p:sp>
        <p:nvSpPr>
          <p:cNvPr id="5" name="Rectangle 6">
            <a:extLst>
              <a:ext uri="{FF2B5EF4-FFF2-40B4-BE49-F238E27FC236}">
                <a16:creationId xmlns:a16="http://schemas.microsoft.com/office/drawing/2014/main" id="{25491A36-3E44-4549-61F3-8AA657686710}"/>
              </a:ext>
            </a:extLst>
          </p:cNvPr>
          <p:cNvSpPr txBox="1">
            <a:spLocks noChangeArrowheads="1"/>
          </p:cNvSpPr>
          <p:nvPr/>
        </p:nvSpPr>
        <p:spPr>
          <a:xfrm>
            <a:off x="720000" y="464774"/>
            <a:ext cx="10800000" cy="7200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altLang="en-US" sz="4000" dirty="0">
              <a:latin typeface="Arial" panose="020B0604020202020204" pitchFamily="34" charset="0"/>
              <a:cs typeface="Arial" panose="020B0604020202020204" pitchFamily="34" charset="0"/>
            </a:endParaRPr>
          </a:p>
          <a:p>
            <a:r>
              <a:rPr lang="en-US" altLang="en-US" sz="4000" dirty="0">
                <a:latin typeface="Arial" panose="020B0604020202020204" pitchFamily="34" charset="0"/>
                <a:cs typeface="Arial" panose="020B0604020202020204" pitchFamily="34" charset="0"/>
              </a:rPr>
              <a:t>Unix Systems Programming</a:t>
            </a:r>
          </a:p>
          <a:p>
            <a:r>
              <a:rPr lang="en-US" altLang="en-US" sz="4000" dirty="0">
                <a:latin typeface="Arial" panose="020B0604020202020204" pitchFamily="34" charset="0"/>
                <a:cs typeface="Arial" panose="020B0604020202020204" pitchFamily="34" charset="0"/>
              </a:rPr>
              <a:t>System Software</a:t>
            </a:r>
          </a:p>
        </p:txBody>
      </p:sp>
      <p:sp>
        <p:nvSpPr>
          <p:cNvPr id="6" name="Rectangle 7">
            <a:extLst>
              <a:ext uri="{FF2B5EF4-FFF2-40B4-BE49-F238E27FC236}">
                <a16:creationId xmlns:a16="http://schemas.microsoft.com/office/drawing/2014/main" id="{BACDE091-21D2-6017-8C87-520713821F66}"/>
              </a:ext>
            </a:extLst>
          </p:cNvPr>
          <p:cNvSpPr txBox="1">
            <a:spLocks noChangeArrowheads="1"/>
          </p:cNvSpPr>
          <p:nvPr/>
        </p:nvSpPr>
        <p:spPr>
          <a:xfrm>
            <a:off x="720000" y="1079998"/>
            <a:ext cx="10800000" cy="540000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endParaRPr lang="en-US" altLang="en-US" sz="1600" dirty="0">
              <a:latin typeface="Arial" panose="020B0604020202020204" pitchFamily="34" charset="0"/>
              <a:cs typeface="Arial" panose="020B0604020202020204" pitchFamily="34" charset="0"/>
            </a:endParaRPr>
          </a:p>
        </p:txBody>
      </p:sp>
      <p:pic>
        <p:nvPicPr>
          <p:cNvPr id="2" name="Picture 2">
            <a:extLst>
              <a:ext uri="{FF2B5EF4-FFF2-40B4-BE49-F238E27FC236}">
                <a16:creationId xmlns:a16="http://schemas.microsoft.com/office/drawing/2014/main" id="{39F3022C-80F1-647D-F342-8DA9FB3D2F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1561513"/>
            <a:ext cx="9043293" cy="402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17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A06B8BE2-FB2F-5FC9-D431-E42ADC5F0486}"/>
              </a:ext>
            </a:extLst>
          </p:cNvPr>
          <p:cNvSpPr txBox="1">
            <a:spLocks noChangeArrowheads="1"/>
          </p:cNvSpPr>
          <p:nvPr/>
        </p:nvSpPr>
        <p:spPr>
          <a:xfrm>
            <a:off x="720000" y="1079999"/>
            <a:ext cx="10800000" cy="54000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altLang="en-US" sz="3000" dirty="0">
              <a:latin typeface="Arial" panose="020B0604020202020204" pitchFamily="34" charset="0"/>
              <a:cs typeface="Arial" panose="020B0604020202020204" pitchFamily="34" charset="0"/>
            </a:endParaRPr>
          </a:p>
        </p:txBody>
      </p:sp>
      <p:sp>
        <p:nvSpPr>
          <p:cNvPr id="5" name="Rectangle 6">
            <a:extLst>
              <a:ext uri="{FF2B5EF4-FFF2-40B4-BE49-F238E27FC236}">
                <a16:creationId xmlns:a16="http://schemas.microsoft.com/office/drawing/2014/main" id="{25491A36-3E44-4549-61F3-8AA657686710}"/>
              </a:ext>
            </a:extLst>
          </p:cNvPr>
          <p:cNvSpPr txBox="1">
            <a:spLocks noChangeArrowheads="1"/>
          </p:cNvSpPr>
          <p:nvPr/>
        </p:nvSpPr>
        <p:spPr>
          <a:xfrm>
            <a:off x="720000" y="359999"/>
            <a:ext cx="10800000" cy="7200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4000" dirty="0">
                <a:latin typeface="Arial" panose="020B0604020202020204" pitchFamily="34" charset="0"/>
                <a:cs typeface="Arial" panose="020B0604020202020204" pitchFamily="34" charset="0"/>
              </a:rPr>
              <a:t>Unix Systems Programming</a:t>
            </a:r>
          </a:p>
          <a:p>
            <a:r>
              <a:rPr lang="en-US" altLang="en-US" sz="4000" dirty="0">
                <a:latin typeface="Arial" panose="020B0604020202020204" pitchFamily="34" charset="0"/>
                <a:cs typeface="Arial" panose="020B0604020202020204" pitchFamily="34" charset="0"/>
              </a:rPr>
              <a:t>Introduction</a:t>
            </a:r>
          </a:p>
        </p:txBody>
      </p:sp>
      <p:sp>
        <p:nvSpPr>
          <p:cNvPr id="6" name="Rectangle 7">
            <a:extLst>
              <a:ext uri="{FF2B5EF4-FFF2-40B4-BE49-F238E27FC236}">
                <a16:creationId xmlns:a16="http://schemas.microsoft.com/office/drawing/2014/main" id="{BACDE091-21D2-6017-8C87-520713821F66}"/>
              </a:ext>
            </a:extLst>
          </p:cNvPr>
          <p:cNvSpPr txBox="1">
            <a:spLocks noChangeArrowheads="1"/>
          </p:cNvSpPr>
          <p:nvPr/>
        </p:nvSpPr>
        <p:spPr>
          <a:xfrm>
            <a:off x="720000" y="1003798"/>
            <a:ext cx="11129100" cy="59875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lnSpc>
                <a:spcPct val="100000"/>
              </a:lnSpc>
              <a:spcBef>
                <a:spcPts val="0"/>
              </a:spcBef>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UNIX commands are programs that are written in C that interact with the UNIX environment using functions called Systems Calls. UNIX provides a well-defined, limited number of entry points directly into the kernel called system calls. It is the list of services or functions that UNIX provides. System Calls are API (Application Programming Interface) of Operating System.</a:t>
            </a:r>
          </a:p>
          <a:p>
            <a:pPr marL="720000" indent="-342900" algn="just">
              <a:lnSpc>
                <a:spcPct val="100000"/>
              </a:lnSpc>
              <a:spcBef>
                <a:spcPts val="0"/>
              </a:spcBef>
              <a:buFont typeface="Arial" panose="020B0604020202020204" pitchFamily="34" charset="0"/>
              <a:buChar char="─"/>
            </a:pPr>
            <a:r>
              <a:rPr lang="en-US" altLang="en-US" sz="2000" dirty="0">
                <a:latin typeface="Arial" panose="020B0604020202020204" pitchFamily="34" charset="0"/>
                <a:cs typeface="Arial" panose="020B0604020202020204" pitchFamily="34" charset="0"/>
              </a:rPr>
              <a:t>The list of system calls is defined in the file /</a:t>
            </a:r>
            <a:r>
              <a:rPr lang="en-US" altLang="en-US" sz="2000" dirty="0" err="1">
                <a:latin typeface="Arial" panose="020B0604020202020204" pitchFamily="34" charset="0"/>
                <a:cs typeface="Arial" panose="020B0604020202020204" pitchFamily="34" charset="0"/>
              </a:rPr>
              <a:t>usr</a:t>
            </a:r>
            <a:r>
              <a:rPr lang="en-US" altLang="en-US" sz="2000" dirty="0">
                <a:latin typeface="Arial" panose="020B0604020202020204" pitchFamily="34" charset="0"/>
                <a:cs typeface="Arial" panose="020B0604020202020204" pitchFamily="34" charset="0"/>
              </a:rPr>
              <a:t>/include/sys/</a:t>
            </a:r>
            <a:r>
              <a:rPr lang="en-US" altLang="en-US" sz="2000" dirty="0" err="1">
                <a:latin typeface="Arial" panose="020B0604020202020204" pitchFamily="34" charset="0"/>
                <a:cs typeface="Arial" panose="020B0604020202020204" pitchFamily="34" charset="0"/>
              </a:rPr>
              <a:t>syscall.h</a:t>
            </a:r>
            <a:endParaRPr lang="en-US" altLang="en-US" sz="2000" dirty="0">
              <a:latin typeface="Arial" panose="020B0604020202020204" pitchFamily="34" charset="0"/>
              <a:cs typeface="Arial" panose="020B0604020202020204" pitchFamily="34" charset="0"/>
            </a:endParaRP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a:t>
            </a:r>
            <a:r>
              <a:rPr lang="en-US" altLang="en-US" sz="1800" dirty="0" err="1">
                <a:latin typeface="Arial" panose="020B0604020202020204" pitchFamily="34" charset="0"/>
                <a:cs typeface="Arial" panose="020B0604020202020204" pitchFamily="34" charset="0"/>
              </a:rPr>
              <a:t>SYS_syscall</a:t>
            </a:r>
            <a:r>
              <a:rPr lang="en-US" altLang="en-US" sz="1800" dirty="0">
                <a:latin typeface="Arial" panose="020B0604020202020204" pitchFamily="34" charset="0"/>
                <a:cs typeface="Arial" panose="020B0604020202020204" pitchFamily="34" charset="0"/>
              </a:rPr>
              <a:t>     0</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a:t>
            </a:r>
            <a:r>
              <a:rPr lang="en-US" altLang="en-US" sz="1800" dirty="0" err="1">
                <a:latin typeface="Arial" panose="020B0604020202020204" pitchFamily="34" charset="0"/>
                <a:cs typeface="Arial" panose="020B0604020202020204" pitchFamily="34" charset="0"/>
              </a:rPr>
              <a:t>SYS_exit</a:t>
            </a:r>
            <a:r>
              <a:rPr lang="en-US" altLang="en-US" sz="1800" dirty="0">
                <a:latin typeface="Arial" panose="020B0604020202020204" pitchFamily="34" charset="0"/>
                <a:cs typeface="Arial" panose="020B0604020202020204" pitchFamily="34" charset="0"/>
              </a:rPr>
              <a:t>        1</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a:t>
            </a:r>
            <a:r>
              <a:rPr lang="en-US" altLang="en-US" sz="1800" dirty="0" err="1">
                <a:latin typeface="Arial" panose="020B0604020202020204" pitchFamily="34" charset="0"/>
                <a:cs typeface="Arial" panose="020B0604020202020204" pitchFamily="34" charset="0"/>
              </a:rPr>
              <a:t>SYS_fork</a:t>
            </a:r>
            <a:r>
              <a:rPr lang="en-US" altLang="en-US" sz="1800" dirty="0">
                <a:latin typeface="Arial" panose="020B0604020202020204" pitchFamily="34" charset="0"/>
                <a:cs typeface="Arial" panose="020B0604020202020204" pitchFamily="34" charset="0"/>
              </a:rPr>
              <a:t>        2</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a:t>
            </a:r>
            <a:r>
              <a:rPr lang="en-US" altLang="en-US" sz="1800" dirty="0" err="1">
                <a:latin typeface="Arial" panose="020B0604020202020204" pitchFamily="34" charset="0"/>
                <a:cs typeface="Arial" panose="020B0604020202020204" pitchFamily="34" charset="0"/>
              </a:rPr>
              <a:t>SYS_read</a:t>
            </a:r>
            <a:r>
              <a:rPr lang="en-US" altLang="en-US" sz="1800" dirty="0">
                <a:latin typeface="Arial" panose="020B0604020202020204" pitchFamily="34" charset="0"/>
                <a:cs typeface="Arial" panose="020B0604020202020204" pitchFamily="34" charset="0"/>
              </a:rPr>
              <a:t>        3</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a:t>
            </a:r>
            <a:r>
              <a:rPr lang="en-US" altLang="en-US" sz="1800" dirty="0" err="1">
                <a:latin typeface="Arial" panose="020B0604020202020204" pitchFamily="34" charset="0"/>
                <a:cs typeface="Arial" panose="020B0604020202020204" pitchFamily="34" charset="0"/>
              </a:rPr>
              <a:t>SYS_write</a:t>
            </a:r>
            <a:r>
              <a:rPr lang="en-US" altLang="en-US" sz="1800" dirty="0">
                <a:latin typeface="Arial" panose="020B0604020202020204" pitchFamily="34" charset="0"/>
                <a:cs typeface="Arial" panose="020B0604020202020204" pitchFamily="34" charset="0"/>
              </a:rPr>
              <a:t>       4</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a:t>
            </a:r>
            <a:r>
              <a:rPr lang="en-US" altLang="en-US" sz="1800" dirty="0" err="1">
                <a:latin typeface="Arial" panose="020B0604020202020204" pitchFamily="34" charset="0"/>
                <a:cs typeface="Arial" panose="020B0604020202020204" pitchFamily="34" charset="0"/>
              </a:rPr>
              <a:t>SYS_open</a:t>
            </a:r>
            <a:r>
              <a:rPr lang="en-US" altLang="en-US" sz="1800" dirty="0">
                <a:latin typeface="Arial" panose="020B0604020202020204" pitchFamily="34" charset="0"/>
                <a:cs typeface="Arial" panose="020B0604020202020204" pitchFamily="34" charset="0"/>
              </a:rPr>
              <a:t>        5</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a:t>
            </a:r>
            <a:r>
              <a:rPr lang="en-US" altLang="en-US" sz="1800" dirty="0" err="1">
                <a:latin typeface="Arial" panose="020B0604020202020204" pitchFamily="34" charset="0"/>
                <a:cs typeface="Arial" panose="020B0604020202020204" pitchFamily="34" charset="0"/>
              </a:rPr>
              <a:t>SYS_close</a:t>
            </a:r>
            <a:r>
              <a:rPr lang="en-US" altLang="en-US" sz="1800" dirty="0">
                <a:latin typeface="Arial" panose="020B0604020202020204" pitchFamily="34" charset="0"/>
                <a:cs typeface="Arial" panose="020B0604020202020204" pitchFamily="34" charset="0"/>
              </a:rPr>
              <a:t>       6</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a:t>
            </a:r>
            <a:r>
              <a:rPr lang="en-US" altLang="en-US" sz="1800" dirty="0" err="1">
                <a:latin typeface="Arial" panose="020B0604020202020204" pitchFamily="34" charset="0"/>
                <a:cs typeface="Arial" panose="020B0604020202020204" pitchFamily="34" charset="0"/>
              </a:rPr>
              <a:t>SYS_link</a:t>
            </a:r>
            <a:r>
              <a:rPr lang="en-US" altLang="en-US" sz="1800" dirty="0">
                <a:latin typeface="Arial" panose="020B0604020202020204" pitchFamily="34" charset="0"/>
                <a:cs typeface="Arial" panose="020B0604020202020204" pitchFamily="34" charset="0"/>
              </a:rPr>
              <a:t>           9</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a:t>
            </a:r>
            <a:r>
              <a:rPr lang="en-US" altLang="en-US" sz="1800" dirty="0" err="1">
                <a:latin typeface="Arial" panose="020B0604020202020204" pitchFamily="34" charset="0"/>
                <a:cs typeface="Arial" panose="020B0604020202020204" pitchFamily="34" charset="0"/>
              </a:rPr>
              <a:t>SYS_unlink</a:t>
            </a:r>
            <a:r>
              <a:rPr lang="en-US" altLang="en-US" sz="1800" dirty="0">
                <a:latin typeface="Arial" panose="020B0604020202020204" pitchFamily="34" charset="0"/>
                <a:cs typeface="Arial" panose="020B0604020202020204" pitchFamily="34" charset="0"/>
              </a:rPr>
              <a:t>      10</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a:t>
            </a:r>
            <a:r>
              <a:rPr lang="en-US" altLang="en-US" sz="1800" dirty="0" err="1">
                <a:latin typeface="Arial" panose="020B0604020202020204" pitchFamily="34" charset="0"/>
                <a:cs typeface="Arial" panose="020B0604020202020204" pitchFamily="34" charset="0"/>
              </a:rPr>
              <a:t>SYS_chdir</a:t>
            </a:r>
            <a:r>
              <a:rPr lang="en-US" altLang="en-US" sz="1800" dirty="0">
                <a:latin typeface="Arial" panose="020B0604020202020204" pitchFamily="34" charset="0"/>
                <a:cs typeface="Arial" panose="020B0604020202020204" pitchFamily="34" charset="0"/>
              </a:rPr>
              <a:t>       12</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a:t>
            </a:r>
            <a:r>
              <a:rPr lang="en-US" altLang="en-US" sz="1800" dirty="0" err="1">
                <a:latin typeface="Arial" panose="020B0604020202020204" pitchFamily="34" charset="0"/>
                <a:cs typeface="Arial" panose="020B0604020202020204" pitchFamily="34" charset="0"/>
              </a:rPr>
              <a:t>SYS_chmod</a:t>
            </a:r>
            <a:r>
              <a:rPr lang="en-US" altLang="en-US" sz="1800" dirty="0">
                <a:latin typeface="Arial" panose="020B0604020202020204" pitchFamily="34" charset="0"/>
                <a:cs typeface="Arial" panose="020B0604020202020204" pitchFamily="34" charset="0"/>
              </a:rPr>
              <a:t>       15</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a:t>
            </a:r>
            <a:r>
              <a:rPr lang="en-US" altLang="en-US" sz="1800" dirty="0" err="1">
                <a:latin typeface="Arial" panose="020B0604020202020204" pitchFamily="34" charset="0"/>
                <a:cs typeface="Arial" panose="020B0604020202020204" pitchFamily="34" charset="0"/>
              </a:rPr>
              <a:t>SYS_getrusage</a:t>
            </a:r>
            <a:r>
              <a:rPr lang="en-US" altLang="en-US" sz="1800" dirty="0">
                <a:latin typeface="Arial" panose="020B0604020202020204" pitchFamily="34" charset="0"/>
                <a:cs typeface="Arial" panose="020B0604020202020204" pitchFamily="34" charset="0"/>
              </a:rPr>
              <a:t>   19</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a:t>
            </a:r>
            <a:r>
              <a:rPr lang="en-US" altLang="en-US" sz="1800" dirty="0" err="1">
                <a:latin typeface="Arial" panose="020B0604020202020204" pitchFamily="34" charset="0"/>
                <a:cs typeface="Arial" panose="020B0604020202020204" pitchFamily="34" charset="0"/>
              </a:rPr>
              <a:t>SYS_getpid</a:t>
            </a:r>
            <a:r>
              <a:rPr lang="en-US" altLang="en-US" sz="1800" dirty="0">
                <a:latin typeface="Arial" panose="020B0604020202020204" pitchFamily="34" charset="0"/>
                <a:cs typeface="Arial" panose="020B0604020202020204" pitchFamily="34" charset="0"/>
              </a:rPr>
              <a:t>      20</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a:t>
            </a:r>
            <a:r>
              <a:rPr lang="en-US" altLang="en-US" sz="1800" dirty="0" err="1">
                <a:latin typeface="Arial" panose="020B0604020202020204" pitchFamily="34" charset="0"/>
                <a:cs typeface="Arial" panose="020B0604020202020204" pitchFamily="34" charset="0"/>
              </a:rPr>
              <a:t>SYS_stat</a:t>
            </a:r>
            <a:r>
              <a:rPr lang="en-US" altLang="en-US" sz="1800" dirty="0">
                <a:latin typeface="Arial" panose="020B0604020202020204" pitchFamily="34" charset="0"/>
                <a:cs typeface="Arial" panose="020B0604020202020204" pitchFamily="34" charset="0"/>
              </a:rPr>
              <a:t>        38</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a:t>
            </a:r>
            <a:r>
              <a:rPr lang="en-US" altLang="en-US" sz="1800" dirty="0" err="1">
                <a:latin typeface="Arial" panose="020B0604020202020204" pitchFamily="34" charset="0"/>
                <a:cs typeface="Arial" panose="020B0604020202020204" pitchFamily="34" charset="0"/>
              </a:rPr>
              <a:t>SYS_getppid</a:t>
            </a:r>
            <a:r>
              <a:rPr lang="en-US" altLang="en-US" sz="1800" dirty="0">
                <a:latin typeface="Arial" panose="020B0604020202020204" pitchFamily="34" charset="0"/>
                <a:cs typeface="Arial" panose="020B0604020202020204" pitchFamily="34" charset="0"/>
              </a:rPr>
              <a:t>     39</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a:t>
            </a:r>
            <a:r>
              <a:rPr lang="en-US" altLang="en-US" sz="1800" dirty="0" err="1">
                <a:latin typeface="Arial" panose="020B0604020202020204" pitchFamily="34" charset="0"/>
                <a:cs typeface="Arial" panose="020B0604020202020204" pitchFamily="34" charset="0"/>
              </a:rPr>
              <a:t>SYS_sigaction</a:t>
            </a:r>
            <a:r>
              <a:rPr lang="en-US" altLang="en-US" sz="1800" dirty="0">
                <a:latin typeface="Arial" panose="020B0604020202020204" pitchFamily="34" charset="0"/>
                <a:cs typeface="Arial" panose="020B0604020202020204" pitchFamily="34" charset="0"/>
              </a:rPr>
              <a:t>   46</a:t>
            </a:r>
          </a:p>
          <a:p>
            <a:pPr marL="720000" indent="-342900" algn="just">
              <a:lnSpc>
                <a:spcPct val="100000"/>
              </a:lnSpc>
              <a:spcBef>
                <a:spcPts val="0"/>
              </a:spcBef>
              <a:buFont typeface="Arial" panose="020B0604020202020204" pitchFamily="34" charset="0"/>
              <a:buChar char="•"/>
            </a:pPr>
            <a:endParaRPr lang="en-US" altLang="en-US" sz="2000" dirty="0">
              <a:latin typeface="Arial" panose="020B0604020202020204" pitchFamily="34" charset="0"/>
              <a:cs typeface="Arial" panose="020B0604020202020204" pitchFamily="34" charset="0"/>
            </a:endParaRPr>
          </a:p>
          <a:p>
            <a:pPr marL="285750" indent="-285750" algn="just">
              <a:lnSpc>
                <a:spcPct val="100000"/>
              </a:lnSpc>
              <a:spcBef>
                <a:spcPts val="0"/>
              </a:spcBef>
              <a:buFont typeface="Wingdings" panose="05000000000000000000" pitchFamily="2" charset="2"/>
              <a:buChar char="§"/>
            </a:pP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3753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2BE44-94A5-BC6B-4B35-BEA5C1852D8E}"/>
            </a:ext>
          </a:extLst>
        </p:cNvPr>
        <p:cNvGrpSpPr/>
        <p:nvPr/>
      </p:nvGrpSpPr>
      <p:grpSpPr>
        <a:xfrm>
          <a:off x="0" y="0"/>
          <a:ext cx="0" cy="0"/>
          <a:chOff x="0" y="0"/>
          <a:chExt cx="0" cy="0"/>
        </a:xfrm>
      </p:grpSpPr>
      <p:sp>
        <p:nvSpPr>
          <p:cNvPr id="4" name="Rectangle 7">
            <a:extLst>
              <a:ext uri="{FF2B5EF4-FFF2-40B4-BE49-F238E27FC236}">
                <a16:creationId xmlns:a16="http://schemas.microsoft.com/office/drawing/2014/main" id="{6CE57364-F37A-4A07-4821-AC4F46663447}"/>
              </a:ext>
            </a:extLst>
          </p:cNvPr>
          <p:cNvSpPr txBox="1">
            <a:spLocks noChangeArrowheads="1"/>
          </p:cNvSpPr>
          <p:nvPr/>
        </p:nvSpPr>
        <p:spPr>
          <a:xfrm>
            <a:off x="720000" y="1079999"/>
            <a:ext cx="10800000" cy="54000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altLang="en-US" sz="3000" dirty="0">
              <a:latin typeface="Arial" panose="020B0604020202020204" pitchFamily="34" charset="0"/>
              <a:cs typeface="Arial" panose="020B0604020202020204" pitchFamily="34" charset="0"/>
            </a:endParaRPr>
          </a:p>
        </p:txBody>
      </p:sp>
      <p:sp>
        <p:nvSpPr>
          <p:cNvPr id="5" name="Rectangle 6">
            <a:extLst>
              <a:ext uri="{FF2B5EF4-FFF2-40B4-BE49-F238E27FC236}">
                <a16:creationId xmlns:a16="http://schemas.microsoft.com/office/drawing/2014/main" id="{3C706A56-A801-B3BD-BAE8-6782F4A383F1}"/>
              </a:ext>
            </a:extLst>
          </p:cNvPr>
          <p:cNvSpPr txBox="1">
            <a:spLocks noChangeArrowheads="1"/>
          </p:cNvSpPr>
          <p:nvPr/>
        </p:nvSpPr>
        <p:spPr>
          <a:xfrm>
            <a:off x="720000" y="359999"/>
            <a:ext cx="10800000" cy="7200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4000" dirty="0">
                <a:latin typeface="Arial" panose="020B0604020202020204" pitchFamily="34" charset="0"/>
                <a:cs typeface="Arial" panose="020B0604020202020204" pitchFamily="34" charset="0"/>
              </a:rPr>
              <a:t>Unix Systems Programming</a:t>
            </a:r>
          </a:p>
          <a:p>
            <a:r>
              <a:rPr lang="en-US" altLang="en-US" sz="4000" dirty="0">
                <a:latin typeface="Arial" panose="020B0604020202020204" pitchFamily="34" charset="0"/>
                <a:cs typeface="Arial" panose="020B0604020202020204" pitchFamily="34" charset="0"/>
              </a:rPr>
              <a:t>Introduction</a:t>
            </a:r>
          </a:p>
        </p:txBody>
      </p:sp>
      <p:sp>
        <p:nvSpPr>
          <p:cNvPr id="6" name="Rectangle 7">
            <a:extLst>
              <a:ext uri="{FF2B5EF4-FFF2-40B4-BE49-F238E27FC236}">
                <a16:creationId xmlns:a16="http://schemas.microsoft.com/office/drawing/2014/main" id="{7A61D450-78FD-1C70-DD4E-17F3DD2840A0}"/>
              </a:ext>
            </a:extLst>
          </p:cNvPr>
          <p:cNvSpPr txBox="1">
            <a:spLocks noChangeArrowheads="1"/>
          </p:cNvSpPr>
          <p:nvPr/>
        </p:nvSpPr>
        <p:spPr>
          <a:xfrm>
            <a:off x="720000" y="1041898"/>
            <a:ext cx="11129100" cy="581610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lnSpc>
                <a:spcPct val="100000"/>
              </a:lnSpc>
              <a:spcBef>
                <a:spcPts val="0"/>
              </a:spcBef>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In System programming, we learn various Systems Calls and how to use them in a program.</a:t>
            </a:r>
          </a:p>
          <a:p>
            <a:pPr marL="285750" indent="-285750" algn="just">
              <a:lnSpc>
                <a:spcPct val="100000"/>
              </a:lnSpc>
              <a:spcBef>
                <a:spcPts val="0"/>
              </a:spcBef>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System Calls run in special CPU mode called Kernel (Protected) Mode that uses an extended set of instructions &amp; can access all the registers.</a:t>
            </a:r>
          </a:p>
          <a:p>
            <a:pPr marL="285750" indent="-285750" algn="just">
              <a:lnSpc>
                <a:spcPct val="100000"/>
              </a:lnSpc>
              <a:spcBef>
                <a:spcPts val="0"/>
              </a:spcBef>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Application programs run in User (Real) Mode where a restricted set of instructions can be run and only a portion of the registers is accessible. </a:t>
            </a:r>
          </a:p>
          <a:p>
            <a:pPr marL="285750" indent="-285750" algn="just">
              <a:lnSpc>
                <a:spcPct val="100000"/>
              </a:lnSpc>
              <a:spcBef>
                <a:spcPts val="0"/>
              </a:spcBef>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When an application program runs and invokes a system call like open() in user mode it generates a “software interrupt” to cross the user/kernel mode boundary.</a:t>
            </a:r>
          </a:p>
          <a:p>
            <a:pPr marL="285750" indent="-285750" algn="just">
              <a:lnSpc>
                <a:spcPct val="100000"/>
              </a:lnSpc>
              <a:spcBef>
                <a:spcPts val="0"/>
              </a:spcBef>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Then the System Call corresponding to open() system call (usually, </a:t>
            </a:r>
            <a:r>
              <a:rPr lang="en-US" altLang="en-US" sz="2000" dirty="0" err="1">
                <a:latin typeface="Arial" panose="020B0604020202020204" pitchFamily="34" charset="0"/>
                <a:cs typeface="Arial" panose="020B0604020202020204" pitchFamily="34" charset="0"/>
              </a:rPr>
              <a:t>sys_open</a:t>
            </a:r>
            <a:r>
              <a:rPr lang="en-US" altLang="en-US" sz="2000" dirty="0">
                <a:latin typeface="Arial" panose="020B0604020202020204" pitchFamily="34" charset="0"/>
                <a:cs typeface="Arial" panose="020B0604020202020204" pitchFamily="34" charset="0"/>
              </a:rPr>
              <a:t>() kernel function) starts running in Kernel Mode where it checks the arguments and validates that the arguments are correct and that the owner of the process can open the file. Then, it performs the operation and returns the file handler of the open file.</a:t>
            </a:r>
          </a:p>
          <a:p>
            <a:pPr marL="285750" indent="-285750" algn="just">
              <a:lnSpc>
                <a:spcPct val="100000"/>
              </a:lnSpc>
              <a:spcBef>
                <a:spcPts val="0"/>
              </a:spcBef>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If there is an error in any of the arguments, the system call will return –1 and a global variable </a:t>
            </a:r>
            <a:r>
              <a:rPr lang="en-US" altLang="en-US" sz="2000" i="1" dirty="0">
                <a:solidFill>
                  <a:srgbClr val="FF0000"/>
                </a:solidFill>
                <a:latin typeface="Arial" panose="020B0604020202020204" pitchFamily="34" charset="0"/>
                <a:cs typeface="Arial" panose="020B0604020202020204" pitchFamily="34" charset="0"/>
              </a:rPr>
              <a:t>errno</a:t>
            </a:r>
            <a:r>
              <a:rPr lang="en-US" altLang="en-US" sz="2000" dirty="0">
                <a:latin typeface="Arial" panose="020B0604020202020204" pitchFamily="34" charset="0"/>
                <a:cs typeface="Arial" panose="020B0604020202020204" pitchFamily="34" charset="0"/>
              </a:rPr>
              <a:t> is set.</a:t>
            </a:r>
          </a:p>
          <a:p>
            <a:pPr marL="285750" indent="-285750" algn="just">
              <a:lnSpc>
                <a:spcPct val="100000"/>
              </a:lnSpc>
              <a:spcBef>
                <a:spcPts val="0"/>
              </a:spcBef>
              <a:buFont typeface="Wingdings" panose="05000000000000000000" pitchFamily="2" charset="2"/>
              <a:buChar char="§"/>
            </a:pP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42736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ABE3D-F624-D4AD-707A-907F2B459833}"/>
            </a:ext>
          </a:extLst>
        </p:cNvPr>
        <p:cNvGrpSpPr/>
        <p:nvPr/>
      </p:nvGrpSpPr>
      <p:grpSpPr>
        <a:xfrm>
          <a:off x="0" y="0"/>
          <a:ext cx="0" cy="0"/>
          <a:chOff x="0" y="0"/>
          <a:chExt cx="0" cy="0"/>
        </a:xfrm>
      </p:grpSpPr>
      <p:sp>
        <p:nvSpPr>
          <p:cNvPr id="4" name="Rectangle 7">
            <a:extLst>
              <a:ext uri="{FF2B5EF4-FFF2-40B4-BE49-F238E27FC236}">
                <a16:creationId xmlns:a16="http://schemas.microsoft.com/office/drawing/2014/main" id="{A77B91D7-AFA0-2B01-8F21-55E5586D531B}"/>
              </a:ext>
            </a:extLst>
          </p:cNvPr>
          <p:cNvSpPr txBox="1">
            <a:spLocks noChangeArrowheads="1"/>
          </p:cNvSpPr>
          <p:nvPr/>
        </p:nvSpPr>
        <p:spPr>
          <a:xfrm>
            <a:off x="720000" y="1079999"/>
            <a:ext cx="10800000" cy="54000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altLang="en-US" sz="3000" dirty="0">
              <a:latin typeface="Arial" panose="020B0604020202020204" pitchFamily="34" charset="0"/>
              <a:cs typeface="Arial" panose="020B0604020202020204" pitchFamily="34" charset="0"/>
            </a:endParaRPr>
          </a:p>
        </p:txBody>
      </p:sp>
      <p:sp>
        <p:nvSpPr>
          <p:cNvPr id="5" name="Rectangle 6">
            <a:extLst>
              <a:ext uri="{FF2B5EF4-FFF2-40B4-BE49-F238E27FC236}">
                <a16:creationId xmlns:a16="http://schemas.microsoft.com/office/drawing/2014/main" id="{E15A158D-C14B-9AFE-81B6-AD5704831418}"/>
              </a:ext>
            </a:extLst>
          </p:cNvPr>
          <p:cNvSpPr txBox="1">
            <a:spLocks noChangeArrowheads="1"/>
          </p:cNvSpPr>
          <p:nvPr/>
        </p:nvSpPr>
        <p:spPr>
          <a:xfrm>
            <a:off x="720000" y="359999"/>
            <a:ext cx="10800000" cy="7200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4000" dirty="0">
                <a:latin typeface="Arial" panose="020B0604020202020204" pitchFamily="34" charset="0"/>
                <a:cs typeface="Arial" panose="020B0604020202020204" pitchFamily="34" charset="0"/>
              </a:rPr>
              <a:t>Unix Systems Programming</a:t>
            </a:r>
          </a:p>
          <a:p>
            <a:r>
              <a:rPr lang="en-US" altLang="en-US" sz="4000" dirty="0">
                <a:latin typeface="Arial" panose="020B0604020202020204" pitchFamily="34" charset="0"/>
                <a:cs typeface="Arial" panose="020B0604020202020204" pitchFamily="34" charset="0"/>
              </a:rPr>
              <a:t>Introduction</a:t>
            </a:r>
          </a:p>
        </p:txBody>
      </p:sp>
      <p:sp>
        <p:nvSpPr>
          <p:cNvPr id="6" name="Rectangle 7">
            <a:extLst>
              <a:ext uri="{FF2B5EF4-FFF2-40B4-BE49-F238E27FC236}">
                <a16:creationId xmlns:a16="http://schemas.microsoft.com/office/drawing/2014/main" id="{526403DD-F470-8FE1-90EE-52FF9E684733}"/>
              </a:ext>
            </a:extLst>
          </p:cNvPr>
          <p:cNvSpPr txBox="1">
            <a:spLocks noChangeArrowheads="1"/>
          </p:cNvSpPr>
          <p:nvPr/>
        </p:nvSpPr>
        <p:spPr>
          <a:xfrm>
            <a:off x="720000" y="946648"/>
            <a:ext cx="11129100" cy="59113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lnSpc>
                <a:spcPct val="100000"/>
              </a:lnSpc>
              <a:spcBef>
                <a:spcPts val="0"/>
              </a:spcBef>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The global variable int errno is defined in the standard C library and stores the status of the last system call executed. It is either 0 on success or an error number defined in /</a:t>
            </a:r>
            <a:r>
              <a:rPr lang="en-US" altLang="en-US" sz="2000" dirty="0" err="1">
                <a:latin typeface="Arial" panose="020B0604020202020204" pitchFamily="34" charset="0"/>
                <a:cs typeface="Arial" panose="020B0604020202020204" pitchFamily="34" charset="0"/>
              </a:rPr>
              <a:t>usr</a:t>
            </a:r>
            <a:r>
              <a:rPr lang="en-US" altLang="en-US" sz="2000" dirty="0">
                <a:latin typeface="Arial" panose="020B0604020202020204" pitchFamily="34" charset="0"/>
                <a:cs typeface="Arial" panose="020B0604020202020204" pitchFamily="34" charset="0"/>
              </a:rPr>
              <a:t>/include/sys/</a:t>
            </a:r>
            <a:r>
              <a:rPr lang="en-US" altLang="en-US" sz="2000" dirty="0" err="1">
                <a:latin typeface="Arial" panose="020B0604020202020204" pitchFamily="34" charset="0"/>
                <a:cs typeface="Arial" panose="020B0604020202020204" pitchFamily="34" charset="0"/>
              </a:rPr>
              <a:t>errno.h</a:t>
            </a:r>
            <a:r>
              <a:rPr lang="en-US" altLang="en-US" sz="2000" dirty="0">
                <a:latin typeface="Arial" panose="020B0604020202020204" pitchFamily="34" charset="0"/>
                <a:cs typeface="Arial" panose="020B0604020202020204" pitchFamily="34" charset="0"/>
              </a:rPr>
              <a:t> file. A human readable error message can be generated using </a:t>
            </a:r>
            <a:r>
              <a:rPr lang="en-US" altLang="en-US" sz="2000" dirty="0" err="1">
                <a:latin typeface="Arial" panose="020B0604020202020204" pitchFamily="34" charset="0"/>
                <a:cs typeface="Arial" panose="020B0604020202020204" pitchFamily="34" charset="0"/>
              </a:rPr>
              <a:t>perror</a:t>
            </a:r>
            <a:r>
              <a:rPr lang="en-US" altLang="en-US" sz="2000" dirty="0">
                <a:latin typeface="Arial" panose="020B0604020202020204" pitchFamily="34" charset="0"/>
                <a:cs typeface="Arial" panose="020B0604020202020204" pitchFamily="34" charset="0"/>
              </a:rPr>
              <a:t>()</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EPERM     1       /* Operation not permitted */</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ENOENT   2       /* No such file or directory */</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ESRCH     3       /* No such process */</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EINTR       4       /* Interrupted system call */</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EIO            5       /* Input/output error */</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EBADF        9       /* Bad file descriptor */</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ECHILD       10      /* No child processes */</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EDEADLK    11      /* Resource deadlock avoided */</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ENOMEM      12      /* Cannot allocate memory */</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EACCES          13      /* Permission denied */</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EFAULT          14      /* Bad address */</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EBUSY           16      /* Device busy */</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EEXIST          17      /* File exists */</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EINVAL          22      /* Invalid argument */</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ENFILE          23      /* Too many open files in system */</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EPIPE           32      /* Broken pipe */</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EAGAIN          35      /* Resource temporarily unavailable */</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#define EOPNOTSUPP      45      /* Operation not supported */</a:t>
            </a:r>
          </a:p>
        </p:txBody>
      </p:sp>
    </p:spTree>
    <p:extLst>
      <p:ext uri="{BB962C8B-B14F-4D97-AF65-F5344CB8AC3E}">
        <p14:creationId xmlns:p14="http://schemas.microsoft.com/office/powerpoint/2010/main" val="3133888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2D117-A81B-CEA9-32DA-64B2731E6E31}"/>
            </a:ext>
          </a:extLst>
        </p:cNvPr>
        <p:cNvGrpSpPr/>
        <p:nvPr/>
      </p:nvGrpSpPr>
      <p:grpSpPr>
        <a:xfrm>
          <a:off x="0" y="0"/>
          <a:ext cx="0" cy="0"/>
          <a:chOff x="0" y="0"/>
          <a:chExt cx="0" cy="0"/>
        </a:xfrm>
      </p:grpSpPr>
      <p:sp>
        <p:nvSpPr>
          <p:cNvPr id="4" name="Rectangle 7">
            <a:extLst>
              <a:ext uri="{FF2B5EF4-FFF2-40B4-BE49-F238E27FC236}">
                <a16:creationId xmlns:a16="http://schemas.microsoft.com/office/drawing/2014/main" id="{C6B4D31E-D093-4F7A-D53D-D2AA0986129E}"/>
              </a:ext>
            </a:extLst>
          </p:cNvPr>
          <p:cNvSpPr txBox="1">
            <a:spLocks noChangeArrowheads="1"/>
          </p:cNvSpPr>
          <p:nvPr/>
        </p:nvSpPr>
        <p:spPr>
          <a:xfrm>
            <a:off x="720000" y="1079999"/>
            <a:ext cx="10800000" cy="54000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altLang="en-US" sz="3000" dirty="0">
              <a:latin typeface="Arial" panose="020B0604020202020204" pitchFamily="34" charset="0"/>
              <a:cs typeface="Arial" panose="020B0604020202020204" pitchFamily="34" charset="0"/>
            </a:endParaRPr>
          </a:p>
        </p:txBody>
      </p:sp>
      <p:sp>
        <p:nvSpPr>
          <p:cNvPr id="5" name="Rectangle 6">
            <a:extLst>
              <a:ext uri="{FF2B5EF4-FFF2-40B4-BE49-F238E27FC236}">
                <a16:creationId xmlns:a16="http://schemas.microsoft.com/office/drawing/2014/main" id="{FCCAD45F-F118-1C81-AE7B-27E06B15B3E9}"/>
              </a:ext>
            </a:extLst>
          </p:cNvPr>
          <p:cNvSpPr txBox="1">
            <a:spLocks noChangeArrowheads="1"/>
          </p:cNvSpPr>
          <p:nvPr/>
        </p:nvSpPr>
        <p:spPr>
          <a:xfrm>
            <a:off x="720000" y="359999"/>
            <a:ext cx="10800000" cy="7200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4000" dirty="0">
                <a:latin typeface="Arial" panose="020B0604020202020204" pitchFamily="34" charset="0"/>
                <a:cs typeface="Arial" panose="020B0604020202020204" pitchFamily="34" charset="0"/>
              </a:rPr>
              <a:t>Unix Systems Programming</a:t>
            </a:r>
          </a:p>
          <a:p>
            <a:r>
              <a:rPr lang="en-US" altLang="en-US" sz="4000" dirty="0">
                <a:latin typeface="Arial" panose="020B0604020202020204" pitchFamily="34" charset="0"/>
                <a:cs typeface="Arial" panose="020B0604020202020204" pitchFamily="34" charset="0"/>
              </a:rPr>
              <a:t>Introduction</a:t>
            </a:r>
          </a:p>
        </p:txBody>
      </p:sp>
      <p:sp>
        <p:nvSpPr>
          <p:cNvPr id="6" name="Rectangle 7">
            <a:extLst>
              <a:ext uri="{FF2B5EF4-FFF2-40B4-BE49-F238E27FC236}">
                <a16:creationId xmlns:a16="http://schemas.microsoft.com/office/drawing/2014/main" id="{514D4124-894D-5751-BD58-788165E89120}"/>
              </a:ext>
            </a:extLst>
          </p:cNvPr>
          <p:cNvSpPr txBox="1">
            <a:spLocks noChangeArrowheads="1"/>
          </p:cNvSpPr>
          <p:nvPr/>
        </p:nvSpPr>
        <p:spPr>
          <a:xfrm>
            <a:off x="720000" y="1060948"/>
            <a:ext cx="11129100" cy="56291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lnSpc>
                <a:spcPct val="100000"/>
              </a:lnSpc>
              <a:spcBef>
                <a:spcPts val="0"/>
              </a:spcBef>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Man command https://man.openbsd.org/OpenBSD-5.9/man.1</a:t>
            </a:r>
          </a:p>
          <a:p>
            <a:pPr marL="720000" indent="-342900" algn="just">
              <a:lnSpc>
                <a:spcPct val="100000"/>
              </a:lnSpc>
              <a:spcBef>
                <a:spcPts val="0"/>
              </a:spcBef>
              <a:buFont typeface="Arial" panose="020B0604020202020204" pitchFamily="34" charset="0"/>
              <a:buChar char="─"/>
            </a:pPr>
            <a:r>
              <a:rPr lang="en-US" altLang="en-US" sz="2000" dirty="0">
                <a:latin typeface="Arial" panose="020B0604020202020204" pitchFamily="34" charset="0"/>
                <a:cs typeface="Arial" panose="020B0604020202020204" pitchFamily="34" charset="0"/>
              </a:rPr>
              <a:t>UNIX man command can be used to view </a:t>
            </a:r>
            <a:r>
              <a:rPr lang="en-US" altLang="en-US" sz="2000" dirty="0" err="1">
                <a:latin typeface="Arial" panose="020B0604020202020204" pitchFamily="34" charset="0"/>
                <a:cs typeface="Arial" panose="020B0604020202020204" pitchFamily="34" charset="0"/>
              </a:rPr>
              <a:t>manpages</a:t>
            </a:r>
            <a:r>
              <a:rPr lang="en-US" altLang="en-US" sz="2000" dirty="0">
                <a:latin typeface="Arial" panose="020B0604020202020204" pitchFamily="34" charset="0"/>
                <a:cs typeface="Arial" panose="020B0604020202020204" pitchFamily="34" charset="0"/>
              </a:rPr>
              <a:t> for system calls (usually section 2) and library functions (section 3) as well.</a:t>
            </a:r>
          </a:p>
          <a:p>
            <a:pPr marL="720000" indent="-342900" algn="just">
              <a:lnSpc>
                <a:spcPct val="100000"/>
              </a:lnSpc>
              <a:spcBef>
                <a:spcPts val="0"/>
              </a:spcBef>
              <a:buFont typeface="Arial" panose="020B0604020202020204" pitchFamily="34" charset="0"/>
              <a:buChar char="─"/>
            </a:pPr>
            <a:r>
              <a:rPr lang="en-US" altLang="en-US" sz="2000" dirty="0">
                <a:latin typeface="Arial" panose="020B0604020202020204" pitchFamily="34" charset="0"/>
                <a:cs typeface="Arial" panose="020B0604020202020204" pitchFamily="34" charset="0"/>
              </a:rPr>
              <a:t>Example:</a:t>
            </a:r>
          </a:p>
          <a:p>
            <a:pPr marL="1177200" lvl="1" indent="-342900" algn="just">
              <a:lnSpc>
                <a:spcPct val="100000"/>
              </a:lnSpc>
              <a:spcBef>
                <a:spcPts val="0"/>
              </a:spcBef>
              <a:buFont typeface="Arial" panose="020B0604020202020204" pitchFamily="34" charset="0"/>
              <a:buChar char="•"/>
            </a:pPr>
            <a:r>
              <a:rPr lang="en-US" altLang="en-US" dirty="0">
                <a:latin typeface="Arial" panose="020B0604020202020204" pitchFamily="34" charset="0"/>
                <a:cs typeface="Arial" panose="020B0604020202020204" pitchFamily="34" charset="0"/>
              </a:rPr>
              <a:t>man –s 2 write</a:t>
            </a:r>
          </a:p>
          <a:p>
            <a:pPr marL="1177200" lvl="1" indent="-342900" algn="just">
              <a:lnSpc>
                <a:spcPct val="100000"/>
              </a:lnSpc>
              <a:spcBef>
                <a:spcPts val="0"/>
              </a:spcBef>
              <a:buFont typeface="Arial" panose="020B0604020202020204" pitchFamily="34" charset="0"/>
              <a:buChar char="•"/>
            </a:pPr>
            <a:r>
              <a:rPr lang="en-US" altLang="en-US" dirty="0">
                <a:latin typeface="Arial" panose="020B0604020202020204" pitchFamily="34" charset="0"/>
                <a:cs typeface="Arial" panose="020B0604020202020204" pitchFamily="34" charset="0"/>
              </a:rPr>
              <a:t>man –s 3 time</a:t>
            </a:r>
          </a:p>
          <a:p>
            <a:pPr marL="720000" indent="-342900" algn="just">
              <a:lnSpc>
                <a:spcPct val="100000"/>
              </a:lnSpc>
              <a:spcBef>
                <a:spcPts val="0"/>
              </a:spcBef>
              <a:buFont typeface="Arial" panose="020B0604020202020204" pitchFamily="34" charset="0"/>
              <a:buChar char="─"/>
            </a:pPr>
            <a:r>
              <a:rPr lang="en-US" altLang="en-US" sz="2000" dirty="0">
                <a:latin typeface="Arial" panose="020B0604020202020204" pitchFamily="34" charset="0"/>
                <a:cs typeface="Arial" panose="020B0604020202020204" pitchFamily="34" charset="0"/>
              </a:rPr>
              <a:t>man –k &lt;name&gt;or apropos &lt;name&gt; can be used to search all system calls with name</a:t>
            </a:r>
          </a:p>
          <a:p>
            <a:pPr marL="285750" indent="-285750" algn="just">
              <a:lnSpc>
                <a:spcPct val="100000"/>
              </a:lnSpc>
              <a:spcBef>
                <a:spcPts val="0"/>
              </a:spcBef>
              <a:buFont typeface="Wingdings" panose="05000000000000000000" pitchFamily="2" charset="2"/>
              <a:buChar char="§"/>
            </a:pP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2622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9FF54-9119-3DC2-D96D-B61672B0CD42}"/>
            </a:ext>
          </a:extLst>
        </p:cNvPr>
        <p:cNvGrpSpPr/>
        <p:nvPr/>
      </p:nvGrpSpPr>
      <p:grpSpPr>
        <a:xfrm>
          <a:off x="0" y="0"/>
          <a:ext cx="0" cy="0"/>
          <a:chOff x="0" y="0"/>
          <a:chExt cx="0" cy="0"/>
        </a:xfrm>
      </p:grpSpPr>
      <p:sp>
        <p:nvSpPr>
          <p:cNvPr id="4" name="Rectangle 7">
            <a:extLst>
              <a:ext uri="{FF2B5EF4-FFF2-40B4-BE49-F238E27FC236}">
                <a16:creationId xmlns:a16="http://schemas.microsoft.com/office/drawing/2014/main" id="{4EBB6A79-6E69-AE97-F078-67E780CF69E0}"/>
              </a:ext>
            </a:extLst>
          </p:cNvPr>
          <p:cNvSpPr txBox="1">
            <a:spLocks noChangeArrowheads="1"/>
          </p:cNvSpPr>
          <p:nvPr/>
        </p:nvSpPr>
        <p:spPr>
          <a:xfrm>
            <a:off x="720000" y="1079999"/>
            <a:ext cx="10800000" cy="54000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altLang="en-US" sz="3000" dirty="0">
              <a:latin typeface="Arial" panose="020B0604020202020204" pitchFamily="34" charset="0"/>
              <a:cs typeface="Arial" panose="020B0604020202020204" pitchFamily="34" charset="0"/>
            </a:endParaRPr>
          </a:p>
        </p:txBody>
      </p:sp>
      <p:sp>
        <p:nvSpPr>
          <p:cNvPr id="5" name="Rectangle 6">
            <a:extLst>
              <a:ext uri="{FF2B5EF4-FFF2-40B4-BE49-F238E27FC236}">
                <a16:creationId xmlns:a16="http://schemas.microsoft.com/office/drawing/2014/main" id="{A202FF2D-6CF1-F6E1-184D-9AB5EF6C1F74}"/>
              </a:ext>
            </a:extLst>
          </p:cNvPr>
          <p:cNvSpPr txBox="1">
            <a:spLocks noChangeArrowheads="1"/>
          </p:cNvSpPr>
          <p:nvPr/>
        </p:nvSpPr>
        <p:spPr>
          <a:xfrm>
            <a:off x="720000" y="359999"/>
            <a:ext cx="10800000" cy="7200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4000" dirty="0">
                <a:latin typeface="Arial" panose="020B0604020202020204" pitchFamily="34" charset="0"/>
                <a:cs typeface="Arial" panose="020B0604020202020204" pitchFamily="34" charset="0"/>
              </a:rPr>
              <a:t>Unix Systems Programming</a:t>
            </a:r>
          </a:p>
          <a:p>
            <a:r>
              <a:rPr lang="en-US" altLang="en-US" sz="4000" dirty="0">
                <a:latin typeface="Arial" panose="020B0604020202020204" pitchFamily="34" charset="0"/>
                <a:cs typeface="Arial" panose="020B0604020202020204" pitchFamily="34" charset="0"/>
              </a:rPr>
              <a:t>Introduction</a:t>
            </a:r>
          </a:p>
        </p:txBody>
      </p:sp>
      <p:sp>
        <p:nvSpPr>
          <p:cNvPr id="6" name="Rectangle 7">
            <a:extLst>
              <a:ext uri="{FF2B5EF4-FFF2-40B4-BE49-F238E27FC236}">
                <a16:creationId xmlns:a16="http://schemas.microsoft.com/office/drawing/2014/main" id="{FBDC8307-861D-ABF5-2580-E1A66521C48F}"/>
              </a:ext>
            </a:extLst>
          </p:cNvPr>
          <p:cNvSpPr txBox="1">
            <a:spLocks noChangeArrowheads="1"/>
          </p:cNvSpPr>
          <p:nvPr/>
        </p:nvSpPr>
        <p:spPr>
          <a:xfrm>
            <a:off x="571501" y="975223"/>
            <a:ext cx="11515724" cy="588277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lnSpc>
                <a:spcPct val="100000"/>
              </a:lnSpc>
              <a:spcBef>
                <a:spcPts val="0"/>
              </a:spcBef>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UNIX Programmer’s Manual [by K. Thompson and D. M. Ritchie in 1973] defines the system calls (in Section 2) and the general-purpose library functions available to programmers (in Section 3)</a:t>
            </a:r>
          </a:p>
          <a:p>
            <a:pPr marL="285750" indent="-285750" algn="just">
              <a:lnSpc>
                <a:spcPct val="100000"/>
              </a:lnSpc>
              <a:spcBef>
                <a:spcPts val="0"/>
              </a:spcBef>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Some useful UNIX system calls:</a:t>
            </a:r>
          </a:p>
          <a:p>
            <a:pPr marL="800100" lvl="1" indent="-342900" algn="just">
              <a:lnSpc>
                <a:spcPct val="100000"/>
              </a:lnSpc>
              <a:spcBef>
                <a:spcPts val="0"/>
              </a:spcBef>
              <a:buFont typeface="Arial" panose="020B0604020202020204" pitchFamily="34" charset="0"/>
              <a:buChar char="•"/>
            </a:pPr>
            <a:r>
              <a:rPr lang="en-US" altLang="en-US" sz="1800" dirty="0" err="1">
                <a:latin typeface="Arial" panose="020B0604020202020204" pitchFamily="34" charset="0"/>
                <a:cs typeface="Arial" panose="020B0604020202020204" pitchFamily="34" charset="0"/>
              </a:rPr>
              <a:t>chdir</a:t>
            </a:r>
            <a:r>
              <a:rPr lang="en-US" altLang="en-US" sz="1800" dirty="0">
                <a:latin typeface="Arial" panose="020B0604020202020204" pitchFamily="34" charset="0"/>
                <a:cs typeface="Arial" panose="020B0604020202020204" pitchFamily="34" charset="0"/>
              </a:rPr>
              <a:t> − change working directory</a:t>
            </a:r>
          </a:p>
          <a:p>
            <a:pPr marL="800100" lvl="1" indent="-342900" algn="just">
              <a:lnSpc>
                <a:spcPct val="100000"/>
              </a:lnSpc>
              <a:spcBef>
                <a:spcPts val="0"/>
              </a:spcBef>
              <a:buFont typeface="Arial" panose="020B0604020202020204" pitchFamily="34" charset="0"/>
              <a:buChar char="•"/>
            </a:pPr>
            <a:r>
              <a:rPr lang="en-US" altLang="en-US" sz="1800" dirty="0" err="1">
                <a:latin typeface="Arial" panose="020B0604020202020204" pitchFamily="34" charset="0"/>
                <a:cs typeface="Arial" panose="020B0604020202020204" pitchFamily="34" charset="0"/>
              </a:rPr>
              <a:t>chmod</a:t>
            </a:r>
            <a:r>
              <a:rPr lang="en-US" altLang="en-US" sz="1800" dirty="0">
                <a:latin typeface="Arial" panose="020B0604020202020204" pitchFamily="34" charset="0"/>
                <a:cs typeface="Arial" panose="020B0604020202020204" pitchFamily="34" charset="0"/>
              </a:rPr>
              <a:t> − change mode of file</a:t>
            </a:r>
          </a:p>
          <a:p>
            <a:pPr marL="800100" lvl="1" indent="-342900" algn="just">
              <a:lnSpc>
                <a:spcPct val="100000"/>
              </a:lnSpc>
              <a:spcBef>
                <a:spcPts val="0"/>
              </a:spcBef>
              <a:buFont typeface="Arial" panose="020B0604020202020204" pitchFamily="34" charset="0"/>
              <a:buChar char="•"/>
            </a:pPr>
            <a:r>
              <a:rPr lang="en-US" altLang="en-US" sz="1800" dirty="0" err="1">
                <a:latin typeface="Arial" panose="020B0604020202020204" pitchFamily="34" charset="0"/>
                <a:cs typeface="Arial" panose="020B0604020202020204" pitchFamily="34" charset="0"/>
              </a:rPr>
              <a:t>chown</a:t>
            </a:r>
            <a:r>
              <a:rPr lang="en-US" altLang="en-US" sz="1800" dirty="0">
                <a:latin typeface="Arial" panose="020B0604020202020204" pitchFamily="34" charset="0"/>
                <a:cs typeface="Arial" panose="020B0604020202020204" pitchFamily="34" charset="0"/>
              </a:rPr>
              <a:t> − change owner</a:t>
            </a:r>
          </a:p>
          <a:p>
            <a:pPr marL="800100" lvl="1"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close − close a file</a:t>
            </a:r>
          </a:p>
          <a:p>
            <a:pPr marL="800100" lvl="1" indent="-342900" algn="just">
              <a:lnSpc>
                <a:spcPct val="100000"/>
              </a:lnSpc>
              <a:spcBef>
                <a:spcPts val="0"/>
              </a:spcBef>
              <a:buFont typeface="Arial" panose="020B0604020202020204" pitchFamily="34" charset="0"/>
              <a:buChar char="•"/>
            </a:pPr>
            <a:r>
              <a:rPr lang="en-US" altLang="en-US" sz="1800" dirty="0" err="1">
                <a:latin typeface="Arial" panose="020B0604020202020204" pitchFamily="34" charset="0"/>
                <a:cs typeface="Arial" panose="020B0604020202020204" pitchFamily="34" charset="0"/>
              </a:rPr>
              <a:t>creat</a:t>
            </a:r>
            <a:r>
              <a:rPr lang="en-US" altLang="en-US" sz="1800" dirty="0">
                <a:latin typeface="Arial" panose="020B0604020202020204" pitchFamily="34" charset="0"/>
                <a:cs typeface="Arial" panose="020B0604020202020204" pitchFamily="34" charset="0"/>
              </a:rPr>
              <a:t> − create a new file</a:t>
            </a:r>
          </a:p>
          <a:p>
            <a:pPr marL="800100" lvl="1"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dup − duplicate an open file descriptor</a:t>
            </a:r>
          </a:p>
          <a:p>
            <a:pPr marL="800100" lvl="1"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exit − terminate process</a:t>
            </a:r>
          </a:p>
          <a:p>
            <a:pPr marL="800100" lvl="1" indent="-342900" algn="just">
              <a:lnSpc>
                <a:spcPct val="100000"/>
              </a:lnSpc>
              <a:spcBef>
                <a:spcPts val="0"/>
              </a:spcBef>
              <a:buFont typeface="Arial" panose="020B0604020202020204" pitchFamily="34" charset="0"/>
              <a:buChar char="•"/>
            </a:pPr>
            <a:r>
              <a:rPr lang="en-US" altLang="en-US" sz="1800" dirty="0" err="1">
                <a:latin typeface="Arial" panose="020B0604020202020204" pitchFamily="34" charset="0"/>
                <a:cs typeface="Arial" panose="020B0604020202020204" pitchFamily="34" charset="0"/>
              </a:rPr>
              <a:t>fstat</a:t>
            </a:r>
            <a:r>
              <a:rPr lang="en-US" altLang="en-US" sz="1800" dirty="0">
                <a:latin typeface="Arial" panose="020B0604020202020204" pitchFamily="34" charset="0"/>
                <a:cs typeface="Arial" panose="020B0604020202020204" pitchFamily="34" charset="0"/>
              </a:rPr>
              <a:t> − get status of open file</a:t>
            </a:r>
          </a:p>
          <a:p>
            <a:pPr marL="800100" lvl="1" indent="-342900" algn="just">
              <a:lnSpc>
                <a:spcPct val="100000"/>
              </a:lnSpc>
              <a:spcBef>
                <a:spcPts val="0"/>
              </a:spcBef>
              <a:buFont typeface="Arial" panose="020B0604020202020204" pitchFamily="34" charset="0"/>
              <a:buChar char="•"/>
            </a:pPr>
            <a:r>
              <a:rPr lang="en-US" altLang="en-US" sz="1800" dirty="0" err="1">
                <a:latin typeface="Arial" panose="020B0604020202020204" pitchFamily="34" charset="0"/>
                <a:cs typeface="Arial" panose="020B0604020202020204" pitchFamily="34" charset="0"/>
              </a:rPr>
              <a:t>getuid</a:t>
            </a:r>
            <a:r>
              <a:rPr lang="en-US" altLang="en-US" sz="1800" dirty="0">
                <a:latin typeface="Arial" panose="020B0604020202020204" pitchFamily="34" charset="0"/>
                <a:cs typeface="Arial" panose="020B0604020202020204" pitchFamily="34" charset="0"/>
              </a:rPr>
              <a:t> − get user identification</a:t>
            </a:r>
          </a:p>
          <a:p>
            <a:pPr marL="800100" lvl="1"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kill − send signal to a process</a:t>
            </a:r>
          </a:p>
          <a:p>
            <a:pPr marL="800100" lvl="1" indent="-342900" algn="just">
              <a:lnSpc>
                <a:spcPct val="100000"/>
              </a:lnSpc>
              <a:spcBef>
                <a:spcPts val="0"/>
              </a:spcBef>
              <a:buFont typeface="Arial" panose="020B0604020202020204" pitchFamily="34" charset="0"/>
              <a:buChar char="•"/>
            </a:pPr>
            <a:r>
              <a:rPr lang="en-US" altLang="en-US" sz="1800" dirty="0" err="1">
                <a:latin typeface="Arial" panose="020B0604020202020204" pitchFamily="34" charset="0"/>
                <a:cs typeface="Arial" panose="020B0604020202020204" pitchFamily="34" charset="0"/>
              </a:rPr>
              <a:t>mknod</a:t>
            </a:r>
            <a:r>
              <a:rPr lang="en-US" altLang="en-US" sz="1800" dirty="0">
                <a:latin typeface="Arial" panose="020B0604020202020204" pitchFamily="34" charset="0"/>
                <a:cs typeface="Arial" panose="020B0604020202020204" pitchFamily="34" charset="0"/>
              </a:rPr>
              <a:t> − make a directory or a special file</a:t>
            </a:r>
          </a:p>
          <a:p>
            <a:pPr marL="800100" lvl="1"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nice − set program priority</a:t>
            </a:r>
          </a:p>
          <a:p>
            <a:pPr marL="800100" lvl="1"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open − open for reading or writing</a:t>
            </a:r>
          </a:p>
          <a:p>
            <a:pPr marL="800100" lvl="1"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read − read from file</a:t>
            </a:r>
          </a:p>
          <a:p>
            <a:pPr marL="800100" lvl="1"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sleep − stop execution for interval</a:t>
            </a:r>
          </a:p>
          <a:p>
            <a:pPr marL="800100" lvl="1"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time − get date/time measured in seconds since epoch (January 1, 1970 00:00:00 GMT).</a:t>
            </a:r>
          </a:p>
          <a:p>
            <a:pPr marL="800100" lvl="1"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times − get process times</a:t>
            </a:r>
          </a:p>
          <a:p>
            <a:pPr marL="800100" lvl="1"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write − write on a file</a:t>
            </a:r>
          </a:p>
        </p:txBody>
      </p:sp>
    </p:spTree>
    <p:extLst>
      <p:ext uri="{BB962C8B-B14F-4D97-AF65-F5344CB8AC3E}">
        <p14:creationId xmlns:p14="http://schemas.microsoft.com/office/powerpoint/2010/main" val="2472350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76DB4-72CB-8A58-D66B-D7C3DF613A21}"/>
            </a:ext>
          </a:extLst>
        </p:cNvPr>
        <p:cNvGrpSpPr/>
        <p:nvPr/>
      </p:nvGrpSpPr>
      <p:grpSpPr>
        <a:xfrm>
          <a:off x="0" y="0"/>
          <a:ext cx="0" cy="0"/>
          <a:chOff x="0" y="0"/>
          <a:chExt cx="0" cy="0"/>
        </a:xfrm>
      </p:grpSpPr>
      <p:sp>
        <p:nvSpPr>
          <p:cNvPr id="4" name="Rectangle 7">
            <a:extLst>
              <a:ext uri="{FF2B5EF4-FFF2-40B4-BE49-F238E27FC236}">
                <a16:creationId xmlns:a16="http://schemas.microsoft.com/office/drawing/2014/main" id="{F50A28F3-1D76-1ABF-8409-53E358497296}"/>
              </a:ext>
            </a:extLst>
          </p:cNvPr>
          <p:cNvSpPr txBox="1">
            <a:spLocks noChangeArrowheads="1"/>
          </p:cNvSpPr>
          <p:nvPr/>
        </p:nvSpPr>
        <p:spPr>
          <a:xfrm>
            <a:off x="720000" y="1079999"/>
            <a:ext cx="10800000" cy="54000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altLang="en-US" sz="3000" dirty="0">
              <a:latin typeface="Arial" panose="020B0604020202020204" pitchFamily="34" charset="0"/>
              <a:cs typeface="Arial" panose="020B0604020202020204" pitchFamily="34" charset="0"/>
            </a:endParaRPr>
          </a:p>
        </p:txBody>
      </p:sp>
      <p:sp>
        <p:nvSpPr>
          <p:cNvPr id="5" name="Rectangle 6">
            <a:extLst>
              <a:ext uri="{FF2B5EF4-FFF2-40B4-BE49-F238E27FC236}">
                <a16:creationId xmlns:a16="http://schemas.microsoft.com/office/drawing/2014/main" id="{3587A45A-DAC5-D633-063E-1F8F173DD7D1}"/>
              </a:ext>
            </a:extLst>
          </p:cNvPr>
          <p:cNvSpPr txBox="1">
            <a:spLocks noChangeArrowheads="1"/>
          </p:cNvSpPr>
          <p:nvPr/>
        </p:nvSpPr>
        <p:spPr>
          <a:xfrm>
            <a:off x="720000" y="359999"/>
            <a:ext cx="10800000" cy="7200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4000" dirty="0">
                <a:latin typeface="Arial" panose="020B0604020202020204" pitchFamily="34" charset="0"/>
                <a:cs typeface="Arial" panose="020B0604020202020204" pitchFamily="34" charset="0"/>
              </a:rPr>
              <a:t>Unix Systems Programming</a:t>
            </a:r>
          </a:p>
          <a:p>
            <a:r>
              <a:rPr lang="en-US" altLang="en-US" sz="4000" dirty="0">
                <a:latin typeface="Arial" panose="020B0604020202020204" pitchFamily="34" charset="0"/>
                <a:cs typeface="Arial" panose="020B0604020202020204" pitchFamily="34" charset="0"/>
              </a:rPr>
              <a:t>Introduction</a:t>
            </a:r>
          </a:p>
        </p:txBody>
      </p:sp>
      <p:sp>
        <p:nvSpPr>
          <p:cNvPr id="6" name="Rectangle 7">
            <a:extLst>
              <a:ext uri="{FF2B5EF4-FFF2-40B4-BE49-F238E27FC236}">
                <a16:creationId xmlns:a16="http://schemas.microsoft.com/office/drawing/2014/main" id="{BB9D7069-7CD8-4BA8-4BEE-6F178141E32C}"/>
              </a:ext>
            </a:extLst>
          </p:cNvPr>
          <p:cNvSpPr txBox="1">
            <a:spLocks noChangeArrowheads="1"/>
          </p:cNvSpPr>
          <p:nvPr/>
        </p:nvSpPr>
        <p:spPr>
          <a:xfrm>
            <a:off x="567600" y="1022848"/>
            <a:ext cx="11605350" cy="604470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lnSpc>
                <a:spcPct val="100000"/>
              </a:lnSpc>
              <a:spcBef>
                <a:spcPts val="0"/>
              </a:spcBef>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Library function is a function in a standard C library. Few library functions are provided below:</a:t>
            </a:r>
          </a:p>
          <a:p>
            <a:pPr marL="800100" lvl="1"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String functions – </a:t>
            </a:r>
            <a:r>
              <a:rPr lang="en-US" altLang="en-US" sz="1800" dirty="0" err="1">
                <a:latin typeface="Arial" panose="020B0604020202020204" pitchFamily="34" charset="0"/>
                <a:cs typeface="Arial" panose="020B0604020202020204" pitchFamily="34" charset="0"/>
              </a:rPr>
              <a:t>strlen</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strcpy</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strcat</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strcmp</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strncpy</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strncat</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strncmp</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strdup</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strstr</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strchr</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strtok</a:t>
            </a:r>
            <a:endParaRPr lang="en-US" altLang="en-US" sz="1800" dirty="0">
              <a:latin typeface="Arial" panose="020B0604020202020204" pitchFamily="34" charset="0"/>
              <a:cs typeface="Arial" panose="020B0604020202020204" pitchFamily="34" charset="0"/>
            </a:endParaRPr>
          </a:p>
          <a:p>
            <a:pPr marL="800100" lvl="1"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String conversion – </a:t>
            </a:r>
            <a:r>
              <a:rPr lang="en-US" altLang="en-US" sz="1800" dirty="0" err="1">
                <a:latin typeface="Arial" panose="020B0604020202020204" pitchFamily="34" charset="0"/>
                <a:cs typeface="Arial" panose="020B0604020202020204" pitchFamily="34" charset="0"/>
              </a:rPr>
              <a:t>atof</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atoi</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atol</a:t>
            </a:r>
            <a:endParaRPr lang="en-US" altLang="en-US" sz="1800" dirty="0">
              <a:latin typeface="Arial" panose="020B0604020202020204" pitchFamily="34" charset="0"/>
              <a:cs typeface="Arial" panose="020B0604020202020204" pitchFamily="34" charset="0"/>
            </a:endParaRPr>
          </a:p>
          <a:p>
            <a:pPr marL="800100" lvl="1"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Math functions: abs, fabs, ceil, floor, round, </a:t>
            </a:r>
            <a:r>
              <a:rPr lang="en-US" altLang="en-US" sz="1800" dirty="0" err="1">
                <a:latin typeface="Arial" panose="020B0604020202020204" pitchFamily="34" charset="0"/>
                <a:cs typeface="Arial" panose="020B0604020202020204" pitchFamily="34" charset="0"/>
              </a:rPr>
              <a:t>trunc</a:t>
            </a:r>
            <a:r>
              <a:rPr lang="en-US" altLang="en-US" sz="1800" dirty="0">
                <a:latin typeface="Arial" panose="020B0604020202020204" pitchFamily="34" charset="0"/>
                <a:cs typeface="Arial" panose="020B0604020202020204" pitchFamily="34" charset="0"/>
              </a:rPr>
              <a:t>, exp, log, rand, pow, sqrt, cos, sin, tan, </a:t>
            </a:r>
            <a:r>
              <a:rPr lang="en-US" altLang="en-US" sz="1800" dirty="0" err="1">
                <a:latin typeface="Arial" panose="020B0604020202020204" pitchFamily="34" charset="0"/>
                <a:cs typeface="Arial" panose="020B0604020202020204" pitchFamily="34" charset="0"/>
              </a:rPr>
              <a:t>acos</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asin</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atan</a:t>
            </a:r>
            <a:endParaRPr lang="en-US" altLang="en-US" sz="1800" dirty="0">
              <a:latin typeface="Arial" panose="020B0604020202020204" pitchFamily="34" charset="0"/>
              <a:cs typeface="Arial" panose="020B0604020202020204" pitchFamily="34" charset="0"/>
            </a:endParaRPr>
          </a:p>
          <a:p>
            <a:pPr marL="800100" lvl="1"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Memory functions – </a:t>
            </a:r>
            <a:r>
              <a:rPr lang="en-US" altLang="en-US" sz="1800" dirty="0" err="1">
                <a:latin typeface="Arial" panose="020B0604020202020204" pitchFamily="34" charset="0"/>
                <a:cs typeface="Arial" panose="020B0604020202020204" pitchFamily="34" charset="0"/>
              </a:rPr>
              <a:t>memcpy</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memset</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memmove</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memcmp</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memset</a:t>
            </a:r>
            <a:endParaRPr lang="en-US" altLang="en-US" sz="1800" dirty="0">
              <a:latin typeface="Arial" panose="020B0604020202020204" pitchFamily="34" charset="0"/>
              <a:cs typeface="Arial" panose="020B0604020202020204" pitchFamily="34" charset="0"/>
            </a:endParaRPr>
          </a:p>
          <a:p>
            <a:pPr marL="800100" lvl="1"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Input/Output – </a:t>
            </a:r>
            <a:r>
              <a:rPr lang="en-US" altLang="en-US" sz="1800" dirty="0" err="1">
                <a:latin typeface="Arial" panose="020B0604020202020204" pitchFamily="34" charset="0"/>
                <a:cs typeface="Arial" panose="020B0604020202020204" pitchFamily="34" charset="0"/>
              </a:rPr>
              <a:t>fopen</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fclose</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feof</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fgetc</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fputc</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fprintf</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fscanf</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fgets</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fputs</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fread</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fwrite</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fseek</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ftell</a:t>
            </a:r>
            <a:r>
              <a:rPr lang="en-US" altLang="en-US" sz="1800" dirty="0">
                <a:latin typeface="Arial" panose="020B0604020202020204" pitchFamily="34" charset="0"/>
                <a:cs typeface="Arial" panose="020B0604020202020204" pitchFamily="34" charset="0"/>
              </a:rPr>
              <a:t>, rewind</a:t>
            </a:r>
          </a:p>
          <a:p>
            <a:pPr marL="800100" lvl="1"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Time manipulation – </a:t>
            </a:r>
            <a:r>
              <a:rPr lang="en-US" altLang="en-US" sz="1800" dirty="0" err="1">
                <a:latin typeface="Arial" panose="020B0604020202020204" pitchFamily="34" charset="0"/>
                <a:cs typeface="Arial" panose="020B0604020202020204" pitchFamily="34" charset="0"/>
              </a:rPr>
              <a:t>ctime</a:t>
            </a:r>
            <a:endParaRPr lang="en-US" altLang="en-US" sz="1800" dirty="0">
              <a:latin typeface="Arial" panose="020B0604020202020204" pitchFamily="34" charset="0"/>
              <a:cs typeface="Arial" panose="020B0604020202020204" pitchFamily="34" charset="0"/>
            </a:endParaRPr>
          </a:p>
          <a:p>
            <a:pPr marL="800100" lvl="1"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crypt − password encoding</a:t>
            </a:r>
          </a:p>
          <a:p>
            <a:pPr marL="800100" lvl="1" indent="-342900" algn="just">
              <a:lnSpc>
                <a:spcPct val="100000"/>
              </a:lnSpc>
              <a:spcBef>
                <a:spcPts val="0"/>
              </a:spcBef>
              <a:buFont typeface="Arial" panose="020B0604020202020204" pitchFamily="34" charset="0"/>
              <a:buChar char="•"/>
            </a:pPr>
            <a:r>
              <a:rPr lang="en-US" altLang="en-US" sz="1800" dirty="0" err="1">
                <a:latin typeface="Arial" panose="020B0604020202020204" pitchFamily="34" charset="0"/>
                <a:cs typeface="Arial" panose="020B0604020202020204" pitchFamily="34" charset="0"/>
              </a:rPr>
              <a:t>getpw</a:t>
            </a:r>
            <a:r>
              <a:rPr lang="en-US" altLang="en-US" sz="1800" dirty="0">
                <a:latin typeface="Arial" panose="020B0604020202020204" pitchFamily="34" charset="0"/>
                <a:cs typeface="Arial" panose="020B0604020202020204" pitchFamily="34" charset="0"/>
              </a:rPr>
              <a:t> − get name from UID</a:t>
            </a:r>
          </a:p>
          <a:p>
            <a:pPr marL="800100" lvl="1" indent="-342900" algn="just">
              <a:lnSpc>
                <a:spcPct val="100000"/>
              </a:lnSpc>
              <a:spcBef>
                <a:spcPts val="0"/>
              </a:spcBef>
              <a:buFont typeface="Arial" panose="020B0604020202020204" pitchFamily="34" charset="0"/>
              <a:buChar char="•"/>
            </a:pPr>
            <a:r>
              <a:rPr lang="en-US" altLang="en-US" sz="1800" dirty="0" err="1">
                <a:latin typeface="Arial" panose="020B0604020202020204" pitchFamily="34" charset="0"/>
                <a:cs typeface="Arial" panose="020B0604020202020204" pitchFamily="34" charset="0"/>
              </a:rPr>
              <a:t>mesg</a:t>
            </a:r>
            <a:r>
              <a:rPr lang="en-US" altLang="en-US" sz="1800" dirty="0">
                <a:latin typeface="Arial" panose="020B0604020202020204" pitchFamily="34" charset="0"/>
                <a:cs typeface="Arial" panose="020B0604020202020204" pitchFamily="34" charset="0"/>
              </a:rPr>
              <a:t> − write message on typewriter</a:t>
            </a:r>
          </a:p>
          <a:p>
            <a:pPr marL="800100" lvl="1" indent="-342900" algn="just">
              <a:lnSpc>
                <a:spcPct val="100000"/>
              </a:lnSpc>
              <a:spcBef>
                <a:spcPts val="0"/>
              </a:spcBef>
              <a:buFont typeface="Arial" panose="020B0604020202020204" pitchFamily="34" charset="0"/>
              <a:buChar char="•"/>
            </a:pPr>
            <a:endParaRPr lang="en-US" altLang="en-US" sz="1800" dirty="0">
              <a:latin typeface="Arial" panose="020B0604020202020204" pitchFamily="34" charset="0"/>
              <a:cs typeface="Arial" panose="020B0604020202020204" pitchFamily="34" charset="0"/>
            </a:endParaRPr>
          </a:p>
          <a:p>
            <a:pPr marL="285750" indent="-285750" algn="just">
              <a:lnSpc>
                <a:spcPct val="100000"/>
              </a:lnSpc>
              <a:spcBef>
                <a:spcPts val="0"/>
              </a:spcBef>
              <a:buFont typeface="Wingdings" panose="05000000000000000000" pitchFamily="2" charset="2"/>
              <a:buChar char="§"/>
            </a:pPr>
            <a:endParaRPr lang="en-US" altLang="en-US" sz="2000" dirty="0">
              <a:latin typeface="Arial" panose="020B0604020202020204" pitchFamily="34" charset="0"/>
              <a:cs typeface="Arial" panose="020B0604020202020204" pitchFamily="34" charset="0"/>
            </a:endParaRPr>
          </a:p>
          <a:p>
            <a:pPr marL="285750" indent="-285750" algn="just">
              <a:lnSpc>
                <a:spcPct val="100000"/>
              </a:lnSpc>
              <a:spcBef>
                <a:spcPts val="0"/>
              </a:spcBef>
              <a:buFont typeface="Wingdings" panose="05000000000000000000" pitchFamily="2" charset="2"/>
              <a:buChar char="§"/>
            </a:pP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5697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E82E3-D6BC-5330-9BB7-C3D4604DACA3}"/>
            </a:ext>
          </a:extLst>
        </p:cNvPr>
        <p:cNvGrpSpPr/>
        <p:nvPr/>
      </p:nvGrpSpPr>
      <p:grpSpPr>
        <a:xfrm>
          <a:off x="0" y="0"/>
          <a:ext cx="0" cy="0"/>
          <a:chOff x="0" y="0"/>
          <a:chExt cx="0" cy="0"/>
        </a:xfrm>
      </p:grpSpPr>
      <p:sp>
        <p:nvSpPr>
          <p:cNvPr id="4" name="Rectangle 7">
            <a:extLst>
              <a:ext uri="{FF2B5EF4-FFF2-40B4-BE49-F238E27FC236}">
                <a16:creationId xmlns:a16="http://schemas.microsoft.com/office/drawing/2014/main" id="{81A5694C-F21B-25F4-6794-04F7BDFB4E75}"/>
              </a:ext>
            </a:extLst>
          </p:cNvPr>
          <p:cNvSpPr txBox="1">
            <a:spLocks noChangeArrowheads="1"/>
          </p:cNvSpPr>
          <p:nvPr/>
        </p:nvSpPr>
        <p:spPr>
          <a:xfrm>
            <a:off x="720000" y="1079999"/>
            <a:ext cx="10800000" cy="54000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altLang="en-US" sz="3000" dirty="0">
              <a:latin typeface="Arial" panose="020B0604020202020204" pitchFamily="34" charset="0"/>
              <a:cs typeface="Arial" panose="020B0604020202020204" pitchFamily="34" charset="0"/>
            </a:endParaRPr>
          </a:p>
        </p:txBody>
      </p:sp>
      <p:sp>
        <p:nvSpPr>
          <p:cNvPr id="5" name="Rectangle 6">
            <a:extLst>
              <a:ext uri="{FF2B5EF4-FFF2-40B4-BE49-F238E27FC236}">
                <a16:creationId xmlns:a16="http://schemas.microsoft.com/office/drawing/2014/main" id="{065C45A1-FECF-F28B-76A9-6B149976950A}"/>
              </a:ext>
            </a:extLst>
          </p:cNvPr>
          <p:cNvSpPr txBox="1">
            <a:spLocks noChangeArrowheads="1"/>
          </p:cNvSpPr>
          <p:nvPr/>
        </p:nvSpPr>
        <p:spPr>
          <a:xfrm>
            <a:off x="720000" y="359999"/>
            <a:ext cx="10800000" cy="7200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4000" dirty="0">
                <a:latin typeface="Arial" panose="020B0604020202020204" pitchFamily="34" charset="0"/>
                <a:cs typeface="Arial" panose="020B0604020202020204" pitchFamily="34" charset="0"/>
              </a:rPr>
              <a:t>Unix Systems Programming</a:t>
            </a:r>
          </a:p>
          <a:p>
            <a:r>
              <a:rPr lang="en-US" altLang="en-US" sz="4000" dirty="0">
                <a:latin typeface="Arial" panose="020B0604020202020204" pitchFamily="34" charset="0"/>
                <a:cs typeface="Arial" panose="020B0604020202020204" pitchFamily="34" charset="0"/>
              </a:rPr>
              <a:t>Introduction</a:t>
            </a:r>
          </a:p>
        </p:txBody>
      </p:sp>
      <p:sp>
        <p:nvSpPr>
          <p:cNvPr id="6" name="Rectangle 7">
            <a:extLst>
              <a:ext uri="{FF2B5EF4-FFF2-40B4-BE49-F238E27FC236}">
                <a16:creationId xmlns:a16="http://schemas.microsoft.com/office/drawing/2014/main" id="{7051957A-8C5C-2F9D-0020-85234ED7302E}"/>
              </a:ext>
            </a:extLst>
          </p:cNvPr>
          <p:cNvSpPr txBox="1">
            <a:spLocks noChangeArrowheads="1"/>
          </p:cNvSpPr>
          <p:nvPr/>
        </p:nvSpPr>
        <p:spPr>
          <a:xfrm>
            <a:off x="719999" y="1013323"/>
            <a:ext cx="11329125" cy="58351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just">
              <a:lnSpc>
                <a:spcPct val="100000"/>
              </a:lnSpc>
              <a:spcBef>
                <a:spcPts val="0"/>
              </a:spcBef>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When a process is created, there are three file pointers are opened by default. They are defined in </a:t>
            </a:r>
            <a:r>
              <a:rPr lang="en-US" altLang="en-US" sz="2000" dirty="0" err="1">
                <a:latin typeface="Arial" panose="020B0604020202020204" pitchFamily="34" charset="0"/>
                <a:cs typeface="Arial" panose="020B0604020202020204" pitchFamily="34" charset="0"/>
              </a:rPr>
              <a:t>stdio.h</a:t>
            </a:r>
            <a:r>
              <a:rPr lang="en-US" altLang="en-US" sz="2000" dirty="0">
                <a:latin typeface="Arial" panose="020B0604020202020204" pitchFamily="34" charset="0"/>
                <a:cs typeface="Arial" panose="020B0604020202020204" pitchFamily="34" charset="0"/>
              </a:rPr>
              <a:t> header.</a:t>
            </a:r>
          </a:p>
          <a:p>
            <a:pPr marL="800100" lvl="1" indent="-342900" algn="just">
              <a:lnSpc>
                <a:spcPct val="100000"/>
              </a:lnSpc>
              <a:spcBef>
                <a:spcPts val="0"/>
              </a:spcBef>
              <a:buFont typeface="Arial" panose="020B0604020202020204" pitchFamily="34" charset="0"/>
              <a:buChar char="•"/>
            </a:pPr>
            <a:r>
              <a:rPr lang="en-US" altLang="en-US" dirty="0">
                <a:latin typeface="Arial" panose="020B0604020202020204" pitchFamily="34" charset="0"/>
                <a:cs typeface="Arial" panose="020B0604020202020204" pitchFamily="34" charset="0"/>
              </a:rPr>
              <a:t>stdin (0) – default Standard Input</a:t>
            </a:r>
          </a:p>
          <a:p>
            <a:pPr marL="800100" lvl="1" indent="-342900" algn="just">
              <a:lnSpc>
                <a:spcPct val="100000"/>
              </a:lnSpc>
              <a:spcBef>
                <a:spcPts val="0"/>
              </a:spcBef>
              <a:buFont typeface="Arial" panose="020B0604020202020204" pitchFamily="34" charset="0"/>
              <a:buChar char="•"/>
            </a:pPr>
            <a:r>
              <a:rPr lang="en-US" altLang="en-US" dirty="0" err="1">
                <a:latin typeface="Arial" panose="020B0604020202020204" pitchFamily="34" charset="0"/>
                <a:cs typeface="Arial" panose="020B0604020202020204" pitchFamily="34" charset="0"/>
              </a:rPr>
              <a:t>stdout</a:t>
            </a:r>
            <a:r>
              <a:rPr lang="en-US" altLang="en-US" dirty="0">
                <a:latin typeface="Arial" panose="020B0604020202020204" pitchFamily="34" charset="0"/>
                <a:cs typeface="Arial" panose="020B0604020202020204" pitchFamily="34" charset="0"/>
              </a:rPr>
              <a:t> (1) – default Standard Output</a:t>
            </a:r>
          </a:p>
          <a:p>
            <a:pPr marL="800100" lvl="1" indent="-342900" algn="just">
              <a:lnSpc>
                <a:spcPct val="100000"/>
              </a:lnSpc>
              <a:spcBef>
                <a:spcPts val="0"/>
              </a:spcBef>
              <a:buFont typeface="Arial" panose="020B0604020202020204" pitchFamily="34" charset="0"/>
              <a:buChar char="•"/>
            </a:pPr>
            <a:r>
              <a:rPr lang="en-US" altLang="en-US" dirty="0">
                <a:latin typeface="Arial" panose="020B0604020202020204" pitchFamily="34" charset="0"/>
                <a:cs typeface="Arial" panose="020B0604020202020204" pitchFamily="34" charset="0"/>
              </a:rPr>
              <a:t>stderr (2) – default Standard Error</a:t>
            </a:r>
          </a:p>
          <a:p>
            <a:pPr marL="342900" indent="-342900" algn="just">
              <a:lnSpc>
                <a:spcPct val="100000"/>
              </a:lnSpc>
              <a:spcBef>
                <a:spcPts val="0"/>
              </a:spcBef>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Redirect standard output to a file and then restore to console [error handling omitted for space]</a:t>
            </a:r>
          </a:p>
          <a:p>
            <a:pPr marL="834300" lvl="1" algn="just">
              <a:lnSpc>
                <a:spcPct val="100000"/>
              </a:lnSpc>
              <a:spcBef>
                <a:spcPts val="0"/>
              </a:spcBef>
            </a:pPr>
            <a:r>
              <a:rPr lang="en-US" altLang="en-US" sz="1800" dirty="0" err="1">
                <a:latin typeface="Arial" panose="020B0604020202020204" pitchFamily="34" charset="0"/>
                <a:cs typeface="Arial" panose="020B0604020202020204" pitchFamily="34" charset="0"/>
              </a:rPr>
              <a:t>stdout_save</a:t>
            </a:r>
            <a:r>
              <a:rPr lang="en-US" altLang="en-US" sz="1800" dirty="0">
                <a:latin typeface="Arial" panose="020B0604020202020204" pitchFamily="34" charset="0"/>
                <a:cs typeface="Arial" panose="020B0604020202020204" pitchFamily="34" charset="0"/>
              </a:rPr>
              <a:t> = dup(</a:t>
            </a:r>
            <a:r>
              <a:rPr lang="en-CA" sz="1800" dirty="0">
                <a:latin typeface="Arial" panose="020B0604020202020204" pitchFamily="34" charset="0"/>
                <a:cs typeface="Arial" panose="020B0604020202020204" pitchFamily="34" charset="0"/>
              </a:rPr>
              <a:t>STDOUT_FILENO </a:t>
            </a:r>
            <a:r>
              <a:rPr lang="en-US" altLang="en-US" sz="1800" dirty="0">
                <a:latin typeface="Arial" panose="020B0604020202020204" pitchFamily="34" charset="0"/>
                <a:cs typeface="Arial" panose="020B0604020202020204" pitchFamily="34" charset="0"/>
              </a:rPr>
              <a:t>)</a:t>
            </a:r>
          </a:p>
          <a:p>
            <a:pPr marL="834300" lvl="1" algn="just">
              <a:lnSpc>
                <a:spcPct val="100000"/>
              </a:lnSpc>
              <a:spcBef>
                <a:spcPts val="0"/>
              </a:spcBef>
            </a:pPr>
            <a:r>
              <a:rPr lang="en-US" altLang="en-US" sz="1800" dirty="0" err="1">
                <a:latin typeface="Arial" panose="020B0604020202020204" pitchFamily="34" charset="0"/>
                <a:cs typeface="Arial" panose="020B0604020202020204" pitchFamily="34" charset="0"/>
              </a:rPr>
              <a:t>out_fd</a:t>
            </a:r>
            <a:r>
              <a:rPr lang="en-US" altLang="en-US" sz="1800" dirty="0">
                <a:latin typeface="Arial" panose="020B0604020202020204" pitchFamily="34" charset="0"/>
                <a:cs typeface="Arial" panose="020B0604020202020204" pitchFamily="34" charset="0"/>
              </a:rPr>
              <a:t> = open("output.log", O_RDWR | O_CREAT | O_TRUNC, 0600)</a:t>
            </a:r>
          </a:p>
          <a:p>
            <a:pPr marL="834300" lvl="1" algn="just">
              <a:lnSpc>
                <a:spcPct val="100000"/>
              </a:lnSpc>
              <a:spcBef>
                <a:spcPts val="0"/>
              </a:spcBef>
            </a:pPr>
            <a:r>
              <a:rPr lang="en-US" altLang="en-US" sz="1800" dirty="0">
                <a:latin typeface="Arial" panose="020B0604020202020204" pitchFamily="34" charset="0"/>
                <a:cs typeface="Arial" panose="020B0604020202020204" pitchFamily="34" charset="0"/>
              </a:rPr>
              <a:t>dup2(</a:t>
            </a:r>
            <a:r>
              <a:rPr lang="en-US" altLang="en-US" sz="1800" dirty="0" err="1">
                <a:latin typeface="Arial" panose="020B0604020202020204" pitchFamily="34" charset="0"/>
                <a:cs typeface="Arial" panose="020B0604020202020204" pitchFamily="34" charset="0"/>
              </a:rPr>
              <a:t>out_fd</a:t>
            </a:r>
            <a:r>
              <a:rPr lang="en-US" altLang="en-US" sz="1800" dirty="0">
                <a:latin typeface="Arial" panose="020B0604020202020204" pitchFamily="34" charset="0"/>
                <a:cs typeface="Arial" panose="020B0604020202020204" pitchFamily="34" charset="0"/>
              </a:rPr>
              <a:t>, STDOUT_FILENO)</a:t>
            </a:r>
          </a:p>
          <a:p>
            <a:pPr marL="834300" lvl="1" algn="just">
              <a:lnSpc>
                <a:spcPct val="100000"/>
              </a:lnSpc>
              <a:spcBef>
                <a:spcPts val="0"/>
              </a:spcBef>
            </a:pPr>
            <a:r>
              <a:rPr lang="en-US" altLang="en-US" sz="1800" dirty="0">
                <a:latin typeface="Arial" panose="020B0604020202020204" pitchFamily="34" charset="0"/>
                <a:cs typeface="Arial" panose="020B0604020202020204" pitchFamily="34" charset="0"/>
              </a:rPr>
              <a:t>close(</a:t>
            </a:r>
            <a:r>
              <a:rPr lang="en-US" altLang="en-US" sz="1800" dirty="0" err="1">
                <a:latin typeface="Arial" panose="020B0604020202020204" pitchFamily="34" charset="0"/>
                <a:cs typeface="Arial" panose="020B0604020202020204" pitchFamily="34" charset="0"/>
              </a:rPr>
              <a:t>out_fd</a:t>
            </a:r>
            <a:r>
              <a:rPr lang="en-US" altLang="en-US" sz="1800" dirty="0">
                <a:latin typeface="Arial" panose="020B0604020202020204" pitchFamily="34" charset="0"/>
                <a:cs typeface="Arial" panose="020B0604020202020204" pitchFamily="34" charset="0"/>
              </a:rPr>
              <a:t>)</a:t>
            </a:r>
          </a:p>
          <a:p>
            <a:pPr marL="834300" lvl="1" algn="just">
              <a:lnSpc>
                <a:spcPct val="100000"/>
              </a:lnSpc>
              <a:spcBef>
                <a:spcPts val="0"/>
              </a:spcBef>
            </a:pPr>
            <a:r>
              <a:rPr lang="en-US" altLang="en-US" sz="1800" dirty="0">
                <a:latin typeface="Arial" panose="020B0604020202020204" pitchFamily="34" charset="0"/>
                <a:cs typeface="Arial" panose="020B0604020202020204" pitchFamily="34" charset="0"/>
              </a:rPr>
              <a:t>// Any </a:t>
            </a:r>
            <a:r>
              <a:rPr lang="en-US" altLang="en-US" sz="1800" dirty="0" err="1">
                <a:latin typeface="Arial" panose="020B0604020202020204" pitchFamily="34" charset="0"/>
                <a:cs typeface="Arial" panose="020B0604020202020204" pitchFamily="34" charset="0"/>
              </a:rPr>
              <a:t>printf</a:t>
            </a:r>
            <a:r>
              <a:rPr lang="en-US" altLang="en-US" sz="1800" dirty="0">
                <a:latin typeface="Arial" panose="020B0604020202020204" pitchFamily="34" charset="0"/>
                <a:cs typeface="Arial" panose="020B0604020202020204" pitchFamily="34" charset="0"/>
              </a:rPr>
              <a:t> or puts will now write to "output.log"</a:t>
            </a:r>
          </a:p>
          <a:p>
            <a:pPr marL="834300" lvl="1" algn="just">
              <a:lnSpc>
                <a:spcPct val="100000"/>
              </a:lnSpc>
              <a:spcBef>
                <a:spcPts val="0"/>
              </a:spcBef>
            </a:pPr>
            <a:r>
              <a:rPr lang="en-US" altLang="en-US" sz="1800" dirty="0">
                <a:latin typeface="Arial" panose="020B0604020202020204" pitchFamily="34" charset="0"/>
                <a:cs typeface="Arial" panose="020B0604020202020204" pitchFamily="34" charset="0"/>
              </a:rPr>
              <a:t>puts(“puts : this line is redirected to output.log");</a:t>
            </a:r>
          </a:p>
          <a:p>
            <a:pPr marL="834300" lvl="1" algn="just">
              <a:lnSpc>
                <a:spcPct val="100000"/>
              </a:lnSpc>
              <a:spcBef>
                <a:spcPts val="0"/>
              </a:spcBef>
            </a:pPr>
            <a:r>
              <a:rPr lang="en-US" altLang="en-US" sz="1800" dirty="0" err="1">
                <a:latin typeface="Arial" panose="020B0604020202020204" pitchFamily="34" charset="0"/>
                <a:cs typeface="Arial" panose="020B0604020202020204" pitchFamily="34" charset="0"/>
              </a:rPr>
              <a:t>fprintf</a:t>
            </a:r>
            <a:r>
              <a:rPr lang="en-US" altLang="en-US" sz="1800" dirty="0">
                <a:latin typeface="Arial" panose="020B0604020202020204" pitchFamily="34" charset="0"/>
                <a:cs typeface="Arial" panose="020B0604020202020204" pitchFamily="34" charset="0"/>
              </a:rPr>
              <a:t>(</a:t>
            </a:r>
            <a:r>
              <a:rPr lang="en-US" altLang="en-US" sz="1800" dirty="0" err="1">
                <a:latin typeface="Arial" panose="020B0604020202020204" pitchFamily="34" charset="0"/>
                <a:cs typeface="Arial" panose="020B0604020202020204" pitchFamily="34" charset="0"/>
              </a:rPr>
              <a:t>stdout</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fprintf</a:t>
            </a:r>
            <a:r>
              <a:rPr lang="en-US" altLang="en-US" sz="1800" dirty="0">
                <a:latin typeface="Arial" panose="020B0604020202020204" pitchFamily="34" charset="0"/>
                <a:cs typeface="Arial" panose="020B0604020202020204" pitchFamily="34" charset="0"/>
              </a:rPr>
              <a:t> : this line is redirected to output.log\n");</a:t>
            </a:r>
          </a:p>
          <a:p>
            <a:pPr marL="834300" lvl="1" algn="just">
              <a:lnSpc>
                <a:spcPct val="100000"/>
              </a:lnSpc>
              <a:spcBef>
                <a:spcPts val="0"/>
              </a:spcBef>
            </a:pPr>
            <a:r>
              <a:rPr lang="en-US" altLang="en-US" sz="1800" dirty="0">
                <a:latin typeface="Arial" panose="020B0604020202020204" pitchFamily="34" charset="0"/>
                <a:cs typeface="Arial" panose="020B0604020202020204" pitchFamily="34" charset="0"/>
              </a:rPr>
              <a:t>// Ensure all buffered output is written before redirection change</a:t>
            </a:r>
          </a:p>
          <a:p>
            <a:pPr marL="834300" lvl="1" algn="just">
              <a:lnSpc>
                <a:spcPct val="100000"/>
              </a:lnSpc>
              <a:spcBef>
                <a:spcPts val="0"/>
              </a:spcBef>
            </a:pPr>
            <a:r>
              <a:rPr lang="en-US" altLang="en-US" sz="1800" dirty="0" err="1">
                <a:latin typeface="Arial" panose="020B0604020202020204" pitchFamily="34" charset="0"/>
                <a:cs typeface="Arial" panose="020B0604020202020204" pitchFamily="34" charset="0"/>
              </a:rPr>
              <a:t>fflush</a:t>
            </a:r>
            <a:r>
              <a:rPr lang="en-US" altLang="en-US" sz="1800" dirty="0">
                <a:latin typeface="Arial" panose="020B0604020202020204" pitchFamily="34" charset="0"/>
                <a:cs typeface="Arial" panose="020B0604020202020204" pitchFamily="34" charset="0"/>
              </a:rPr>
              <a:t>(</a:t>
            </a:r>
            <a:r>
              <a:rPr lang="en-US" altLang="en-US" sz="1800" dirty="0" err="1">
                <a:latin typeface="Arial" panose="020B0604020202020204" pitchFamily="34" charset="0"/>
                <a:cs typeface="Arial" panose="020B0604020202020204" pitchFamily="34" charset="0"/>
              </a:rPr>
              <a:t>stdout</a:t>
            </a:r>
            <a:r>
              <a:rPr lang="en-US" altLang="en-US" sz="1800" dirty="0">
                <a:latin typeface="Arial" panose="020B0604020202020204" pitchFamily="34" charset="0"/>
                <a:cs typeface="Arial" panose="020B0604020202020204" pitchFamily="34" charset="0"/>
              </a:rPr>
              <a:t>);</a:t>
            </a:r>
          </a:p>
          <a:p>
            <a:pPr marL="834300" lvl="1" algn="just">
              <a:lnSpc>
                <a:spcPct val="100000"/>
              </a:lnSpc>
              <a:spcBef>
                <a:spcPts val="0"/>
              </a:spcBef>
            </a:pPr>
            <a:r>
              <a:rPr lang="en-US" altLang="en-US" sz="1800" dirty="0">
                <a:latin typeface="Arial" panose="020B0604020202020204" pitchFamily="34" charset="0"/>
                <a:cs typeface="Arial" panose="020B0604020202020204" pitchFamily="34" charset="0"/>
              </a:rPr>
              <a:t>// restoration</a:t>
            </a:r>
          </a:p>
          <a:p>
            <a:pPr marL="834300" lvl="1" algn="just">
              <a:lnSpc>
                <a:spcPct val="100000"/>
              </a:lnSpc>
              <a:spcBef>
                <a:spcPts val="0"/>
              </a:spcBef>
            </a:pPr>
            <a:r>
              <a:rPr lang="en-US" altLang="en-US" sz="1800" dirty="0">
                <a:latin typeface="Arial" panose="020B0604020202020204" pitchFamily="34" charset="0"/>
                <a:cs typeface="Arial" panose="020B0604020202020204" pitchFamily="34" charset="0"/>
              </a:rPr>
              <a:t>dup2(</a:t>
            </a:r>
            <a:r>
              <a:rPr lang="en-US" altLang="en-US" sz="1800" dirty="0" err="1">
                <a:latin typeface="Arial" panose="020B0604020202020204" pitchFamily="34" charset="0"/>
                <a:cs typeface="Arial" panose="020B0604020202020204" pitchFamily="34" charset="0"/>
              </a:rPr>
              <a:t>stdout_save</a:t>
            </a:r>
            <a:r>
              <a:rPr lang="en-US" altLang="en-US" sz="1800" dirty="0">
                <a:latin typeface="Arial" panose="020B0604020202020204" pitchFamily="34" charset="0"/>
                <a:cs typeface="Arial" panose="020B0604020202020204" pitchFamily="34" charset="0"/>
              </a:rPr>
              <a:t>, STDOUT_FILENO)</a:t>
            </a:r>
          </a:p>
          <a:p>
            <a:pPr marL="834300" lvl="1" algn="just">
              <a:lnSpc>
                <a:spcPct val="100000"/>
              </a:lnSpc>
              <a:spcBef>
                <a:spcPts val="0"/>
              </a:spcBef>
            </a:pPr>
            <a:r>
              <a:rPr lang="en-US" altLang="en-US" sz="1800" dirty="0">
                <a:latin typeface="Arial" panose="020B0604020202020204" pitchFamily="34" charset="0"/>
                <a:cs typeface="Arial" panose="020B0604020202020204" pitchFamily="34" charset="0"/>
              </a:rPr>
              <a:t>close(</a:t>
            </a:r>
            <a:r>
              <a:rPr lang="en-US" altLang="en-US" sz="1800" dirty="0" err="1">
                <a:latin typeface="Arial" panose="020B0604020202020204" pitchFamily="34" charset="0"/>
                <a:cs typeface="Arial" panose="020B0604020202020204" pitchFamily="34" charset="0"/>
              </a:rPr>
              <a:t>stdout_save</a:t>
            </a:r>
            <a:r>
              <a:rPr lang="en-US" altLang="en-US" sz="1800" dirty="0">
                <a:latin typeface="Arial" panose="020B0604020202020204" pitchFamily="34" charset="0"/>
                <a:cs typeface="Arial" panose="020B0604020202020204" pitchFamily="34" charset="0"/>
              </a:rPr>
              <a:t>)</a:t>
            </a:r>
          </a:p>
          <a:p>
            <a:pPr marL="834300" lvl="1" algn="just">
              <a:lnSpc>
                <a:spcPct val="100000"/>
              </a:lnSpc>
              <a:spcBef>
                <a:spcPts val="0"/>
              </a:spcBef>
            </a:pPr>
            <a:r>
              <a:rPr lang="en-US" altLang="en-US" sz="1800" dirty="0">
                <a:latin typeface="Arial" panose="020B0604020202020204" pitchFamily="34" charset="0"/>
                <a:cs typeface="Arial" panose="020B0604020202020204" pitchFamily="34" charset="0"/>
              </a:rPr>
              <a:t>// This line will print to the console (the original </a:t>
            </a:r>
            <a:r>
              <a:rPr lang="en-US" altLang="en-US" sz="1800" dirty="0" err="1">
                <a:latin typeface="Arial" panose="020B0604020202020204" pitchFamily="34" charset="0"/>
                <a:cs typeface="Arial" panose="020B0604020202020204" pitchFamily="34" charset="0"/>
              </a:rPr>
              <a:t>stdout</a:t>
            </a:r>
            <a:r>
              <a:rPr lang="en-US" altLang="en-US" sz="1800" dirty="0">
                <a:latin typeface="Arial" panose="020B0604020202020204" pitchFamily="34" charset="0"/>
                <a:cs typeface="Arial" panose="020B0604020202020204" pitchFamily="34" charset="0"/>
              </a:rPr>
              <a:t>)</a:t>
            </a:r>
          </a:p>
          <a:p>
            <a:pPr marL="834300" lvl="1" algn="just">
              <a:lnSpc>
                <a:spcPct val="100000"/>
              </a:lnSpc>
              <a:spcBef>
                <a:spcPts val="0"/>
              </a:spcBef>
            </a:pPr>
            <a:r>
              <a:rPr lang="en-US" altLang="en-US" sz="1800" dirty="0">
                <a:latin typeface="Arial" panose="020B0604020202020204" pitchFamily="34" charset="0"/>
                <a:cs typeface="Arial" panose="020B0604020202020204" pitchFamily="34" charset="0"/>
              </a:rPr>
              <a:t>puts("This line is back to the console.");</a:t>
            </a:r>
          </a:p>
          <a:p>
            <a:pPr marL="834300" lvl="1" algn="just">
              <a:lnSpc>
                <a:spcPct val="100000"/>
              </a:lnSpc>
              <a:spcBef>
                <a:spcPts val="0"/>
              </a:spcBef>
            </a:pPr>
            <a:endParaRPr lang="en-US" altLang="en-US" sz="1800" dirty="0">
              <a:latin typeface="Arial" panose="020B0604020202020204" pitchFamily="34" charset="0"/>
              <a:cs typeface="Arial" panose="020B0604020202020204" pitchFamily="34" charset="0"/>
            </a:endParaRPr>
          </a:p>
          <a:p>
            <a:pPr marL="342900" indent="-342900" algn="just">
              <a:lnSpc>
                <a:spcPct val="100000"/>
              </a:lnSpc>
              <a:spcBef>
                <a:spcPts val="0"/>
              </a:spcBef>
              <a:buFont typeface="Arial" panose="020B0604020202020204" pitchFamily="34" charset="0"/>
              <a:buChar char="•"/>
            </a:pPr>
            <a:endParaRPr lang="en-US" altLang="en-US" sz="2000" dirty="0">
              <a:latin typeface="Arial" panose="020B0604020202020204" pitchFamily="34" charset="0"/>
              <a:cs typeface="Arial" panose="020B0604020202020204" pitchFamily="34" charset="0"/>
            </a:endParaRPr>
          </a:p>
          <a:p>
            <a:pPr marL="285750" indent="-285750" algn="just">
              <a:lnSpc>
                <a:spcPct val="100000"/>
              </a:lnSpc>
              <a:spcBef>
                <a:spcPts val="0"/>
              </a:spcBef>
              <a:buFont typeface="Wingdings" panose="05000000000000000000" pitchFamily="2" charset="2"/>
              <a:buChar char="§"/>
            </a:pP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8114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0943A-AF69-34AE-D319-92F19362D04F}"/>
            </a:ext>
          </a:extLst>
        </p:cNvPr>
        <p:cNvGrpSpPr/>
        <p:nvPr/>
      </p:nvGrpSpPr>
      <p:grpSpPr>
        <a:xfrm>
          <a:off x="0" y="0"/>
          <a:ext cx="0" cy="0"/>
          <a:chOff x="0" y="0"/>
          <a:chExt cx="0" cy="0"/>
        </a:xfrm>
      </p:grpSpPr>
      <p:sp>
        <p:nvSpPr>
          <p:cNvPr id="4" name="Rectangle 7">
            <a:extLst>
              <a:ext uri="{FF2B5EF4-FFF2-40B4-BE49-F238E27FC236}">
                <a16:creationId xmlns:a16="http://schemas.microsoft.com/office/drawing/2014/main" id="{6BD4AB7B-0AED-B417-A94B-6B674B6E9A34}"/>
              </a:ext>
            </a:extLst>
          </p:cNvPr>
          <p:cNvSpPr txBox="1">
            <a:spLocks noChangeArrowheads="1"/>
          </p:cNvSpPr>
          <p:nvPr/>
        </p:nvSpPr>
        <p:spPr>
          <a:xfrm>
            <a:off x="720000" y="1079999"/>
            <a:ext cx="10800000" cy="54000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altLang="en-US" sz="3000" dirty="0">
              <a:latin typeface="Arial" panose="020B0604020202020204" pitchFamily="34" charset="0"/>
              <a:cs typeface="Arial" panose="020B0604020202020204" pitchFamily="34" charset="0"/>
            </a:endParaRPr>
          </a:p>
        </p:txBody>
      </p:sp>
      <p:sp>
        <p:nvSpPr>
          <p:cNvPr id="5" name="Rectangle 6">
            <a:extLst>
              <a:ext uri="{FF2B5EF4-FFF2-40B4-BE49-F238E27FC236}">
                <a16:creationId xmlns:a16="http://schemas.microsoft.com/office/drawing/2014/main" id="{2DD172F6-D677-B636-524F-BD006ACA5E6B}"/>
              </a:ext>
            </a:extLst>
          </p:cNvPr>
          <p:cNvSpPr txBox="1">
            <a:spLocks noChangeArrowheads="1"/>
          </p:cNvSpPr>
          <p:nvPr/>
        </p:nvSpPr>
        <p:spPr>
          <a:xfrm>
            <a:off x="720000" y="359999"/>
            <a:ext cx="10800000" cy="7200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4000" dirty="0">
                <a:latin typeface="Arial" panose="020B0604020202020204" pitchFamily="34" charset="0"/>
                <a:cs typeface="Arial" panose="020B0604020202020204" pitchFamily="34" charset="0"/>
              </a:rPr>
              <a:t>Unix Systems Programming</a:t>
            </a:r>
          </a:p>
          <a:p>
            <a:r>
              <a:rPr lang="en-US" altLang="en-US" sz="4000" dirty="0">
                <a:latin typeface="Arial" panose="020B0604020202020204" pitchFamily="34" charset="0"/>
                <a:cs typeface="Arial" panose="020B0604020202020204" pitchFamily="34" charset="0"/>
              </a:rPr>
              <a:t>Introduction</a:t>
            </a:r>
          </a:p>
        </p:txBody>
      </p:sp>
      <p:sp>
        <p:nvSpPr>
          <p:cNvPr id="6" name="Rectangle 7">
            <a:extLst>
              <a:ext uri="{FF2B5EF4-FFF2-40B4-BE49-F238E27FC236}">
                <a16:creationId xmlns:a16="http://schemas.microsoft.com/office/drawing/2014/main" id="{21E397E9-4598-20FC-533A-D83CC730794F}"/>
              </a:ext>
            </a:extLst>
          </p:cNvPr>
          <p:cNvSpPr txBox="1">
            <a:spLocks noChangeArrowheads="1"/>
          </p:cNvSpPr>
          <p:nvPr/>
        </p:nvSpPr>
        <p:spPr>
          <a:xfrm>
            <a:off x="720000" y="899023"/>
            <a:ext cx="11129100" cy="599707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lnSpc>
                <a:spcPct val="100000"/>
              </a:lnSpc>
              <a:spcBef>
                <a:spcPts val="0"/>
              </a:spcBef>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The Unix </a:t>
            </a:r>
            <a:r>
              <a:rPr lang="en-US" altLang="en-US" sz="2000" dirty="0" err="1">
                <a:latin typeface="Arial" panose="020B0604020202020204" pitchFamily="34" charset="0"/>
                <a:cs typeface="Arial" panose="020B0604020202020204" pitchFamily="34" charset="0"/>
              </a:rPr>
              <a:t>getrusage</a:t>
            </a:r>
            <a:r>
              <a:rPr lang="en-US" altLang="en-US" sz="2000" dirty="0">
                <a:latin typeface="Arial" panose="020B0604020202020204" pitchFamily="34" charset="0"/>
                <a:cs typeface="Arial" panose="020B0604020202020204" pitchFamily="34" charset="0"/>
              </a:rPr>
              <a:t>() system call provides information about important system resources used by a process or its terminated child processes. It is declared in &lt;sys/</a:t>
            </a:r>
            <a:r>
              <a:rPr lang="en-US" altLang="en-US" sz="2000" dirty="0" err="1">
                <a:latin typeface="Arial" panose="020B0604020202020204" pitchFamily="34" charset="0"/>
                <a:cs typeface="Arial" panose="020B0604020202020204" pitchFamily="34" charset="0"/>
              </a:rPr>
              <a:t>resource.h</a:t>
            </a:r>
            <a:r>
              <a:rPr lang="en-US" altLang="en-US" sz="2000" dirty="0">
                <a:latin typeface="Arial" panose="020B0604020202020204" pitchFamily="34" charset="0"/>
                <a:cs typeface="Arial" panose="020B0604020202020204" pitchFamily="34" charset="0"/>
              </a:rPr>
              <a:t>&gt; and returns data in a struct </a:t>
            </a:r>
            <a:r>
              <a:rPr lang="en-US" altLang="en-US" sz="2000" dirty="0" err="1">
                <a:latin typeface="Arial" panose="020B0604020202020204" pitchFamily="34" charset="0"/>
                <a:cs typeface="Arial" panose="020B0604020202020204" pitchFamily="34" charset="0"/>
              </a:rPr>
              <a:t>rusage</a:t>
            </a:r>
            <a:r>
              <a:rPr lang="en-US" altLang="en-US" sz="2000" dirty="0">
                <a:latin typeface="Arial" panose="020B0604020202020204" pitchFamily="34" charset="0"/>
                <a:cs typeface="Arial" panose="020B0604020202020204" pitchFamily="34" charset="0"/>
              </a:rPr>
              <a:t> shown below.</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struct  </a:t>
            </a:r>
            <a:r>
              <a:rPr lang="en-US" altLang="en-US" sz="1800" dirty="0" err="1">
                <a:latin typeface="Arial" panose="020B0604020202020204" pitchFamily="34" charset="0"/>
                <a:cs typeface="Arial" panose="020B0604020202020204" pitchFamily="34" charset="0"/>
              </a:rPr>
              <a:t>rusage</a:t>
            </a:r>
            <a:r>
              <a:rPr lang="en-US" altLang="en-US" sz="1800" dirty="0">
                <a:latin typeface="Arial" panose="020B0604020202020204" pitchFamily="34" charset="0"/>
                <a:cs typeface="Arial" panose="020B0604020202020204" pitchFamily="34" charset="0"/>
              </a:rPr>
              <a:t>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     struct </a:t>
            </a:r>
            <a:r>
              <a:rPr lang="en-US" altLang="en-US" sz="1800" dirty="0" err="1">
                <a:latin typeface="Arial" panose="020B0604020202020204" pitchFamily="34" charset="0"/>
                <a:cs typeface="Arial" panose="020B0604020202020204" pitchFamily="34" charset="0"/>
              </a:rPr>
              <a:t>timeval</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ru_utime</a:t>
            </a:r>
            <a:r>
              <a:rPr lang="en-US" altLang="en-US" sz="1800" dirty="0">
                <a:latin typeface="Arial" panose="020B0604020202020204" pitchFamily="34" charset="0"/>
                <a:cs typeface="Arial" panose="020B0604020202020204" pitchFamily="34" charset="0"/>
              </a:rPr>
              <a:t>;        /* user time used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     struct </a:t>
            </a:r>
            <a:r>
              <a:rPr lang="en-US" altLang="en-US" sz="1800" dirty="0" err="1">
                <a:latin typeface="Arial" panose="020B0604020202020204" pitchFamily="34" charset="0"/>
                <a:cs typeface="Arial" panose="020B0604020202020204" pitchFamily="34" charset="0"/>
              </a:rPr>
              <a:t>timeval</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ru_stime</a:t>
            </a:r>
            <a:r>
              <a:rPr lang="en-US" altLang="en-US" sz="1800" dirty="0">
                <a:latin typeface="Arial" panose="020B0604020202020204" pitchFamily="34" charset="0"/>
                <a:cs typeface="Arial" panose="020B0604020202020204" pitchFamily="34" charset="0"/>
              </a:rPr>
              <a:t>;        /* system time used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     long    </a:t>
            </a:r>
            <a:r>
              <a:rPr lang="en-US" altLang="en-US" sz="1800" dirty="0" err="1">
                <a:latin typeface="Arial" panose="020B0604020202020204" pitchFamily="34" charset="0"/>
                <a:cs typeface="Arial" panose="020B0604020202020204" pitchFamily="34" charset="0"/>
              </a:rPr>
              <a:t>ru_maxrss</a:t>
            </a:r>
            <a:r>
              <a:rPr lang="en-US" altLang="en-US" sz="1800" dirty="0">
                <a:latin typeface="Arial" panose="020B0604020202020204" pitchFamily="34" charset="0"/>
                <a:cs typeface="Arial" panose="020B0604020202020204" pitchFamily="34" charset="0"/>
              </a:rPr>
              <a:t>;              /* max resident set size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     long    </a:t>
            </a:r>
            <a:r>
              <a:rPr lang="en-US" altLang="en-US" sz="1800" dirty="0" err="1">
                <a:latin typeface="Arial" panose="020B0604020202020204" pitchFamily="34" charset="0"/>
                <a:cs typeface="Arial" panose="020B0604020202020204" pitchFamily="34" charset="0"/>
              </a:rPr>
              <a:t>ru_ixrss</a:t>
            </a:r>
            <a:r>
              <a:rPr lang="en-US" altLang="en-US" sz="1800" dirty="0">
                <a:latin typeface="Arial" panose="020B0604020202020204" pitchFamily="34" charset="0"/>
                <a:cs typeface="Arial" panose="020B0604020202020204" pitchFamily="34" charset="0"/>
              </a:rPr>
              <a:t>;               /* integral shared text memory size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     long    </a:t>
            </a:r>
            <a:r>
              <a:rPr lang="en-US" altLang="en-US" sz="1800" dirty="0" err="1">
                <a:latin typeface="Arial" panose="020B0604020202020204" pitchFamily="34" charset="0"/>
                <a:cs typeface="Arial" panose="020B0604020202020204" pitchFamily="34" charset="0"/>
              </a:rPr>
              <a:t>ru_idrss</a:t>
            </a:r>
            <a:r>
              <a:rPr lang="en-US" altLang="en-US" sz="1800" dirty="0">
                <a:latin typeface="Arial" panose="020B0604020202020204" pitchFamily="34" charset="0"/>
                <a:cs typeface="Arial" panose="020B0604020202020204" pitchFamily="34" charset="0"/>
              </a:rPr>
              <a:t>;               /* integral unshared data "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     long    </a:t>
            </a:r>
            <a:r>
              <a:rPr lang="en-US" altLang="en-US" sz="1800" dirty="0" err="1">
                <a:latin typeface="Arial" panose="020B0604020202020204" pitchFamily="34" charset="0"/>
                <a:cs typeface="Arial" panose="020B0604020202020204" pitchFamily="34" charset="0"/>
              </a:rPr>
              <a:t>ru_isrss</a:t>
            </a:r>
            <a:r>
              <a:rPr lang="en-US" altLang="en-US" sz="1800" dirty="0">
                <a:latin typeface="Arial" panose="020B0604020202020204" pitchFamily="34" charset="0"/>
                <a:cs typeface="Arial" panose="020B0604020202020204" pitchFamily="34" charset="0"/>
              </a:rPr>
              <a:t>;               /* integral unshared stack "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     long    </a:t>
            </a:r>
            <a:r>
              <a:rPr lang="en-US" altLang="en-US" sz="1800" dirty="0" err="1">
                <a:latin typeface="Arial" panose="020B0604020202020204" pitchFamily="34" charset="0"/>
                <a:cs typeface="Arial" panose="020B0604020202020204" pitchFamily="34" charset="0"/>
              </a:rPr>
              <a:t>ru_minflt</a:t>
            </a:r>
            <a:r>
              <a:rPr lang="en-US" altLang="en-US" sz="1800" dirty="0">
                <a:latin typeface="Arial" panose="020B0604020202020204" pitchFamily="34" charset="0"/>
                <a:cs typeface="Arial" panose="020B0604020202020204" pitchFamily="34" charset="0"/>
              </a:rPr>
              <a:t>;              /* page reclaims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     long    </a:t>
            </a:r>
            <a:r>
              <a:rPr lang="en-US" altLang="en-US" sz="1800" dirty="0" err="1">
                <a:latin typeface="Arial" panose="020B0604020202020204" pitchFamily="34" charset="0"/>
                <a:cs typeface="Arial" panose="020B0604020202020204" pitchFamily="34" charset="0"/>
              </a:rPr>
              <a:t>ru_majflt</a:t>
            </a:r>
            <a:r>
              <a:rPr lang="en-US" altLang="en-US" sz="1800" dirty="0">
                <a:latin typeface="Arial" panose="020B0604020202020204" pitchFamily="34" charset="0"/>
                <a:cs typeface="Arial" panose="020B0604020202020204" pitchFamily="34" charset="0"/>
              </a:rPr>
              <a:t>;              /* page faults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     long    </a:t>
            </a:r>
            <a:r>
              <a:rPr lang="en-US" altLang="en-US" sz="1800" dirty="0" err="1">
                <a:latin typeface="Arial" panose="020B0604020202020204" pitchFamily="34" charset="0"/>
                <a:cs typeface="Arial" panose="020B0604020202020204" pitchFamily="34" charset="0"/>
              </a:rPr>
              <a:t>ru_nswap</a:t>
            </a:r>
            <a:r>
              <a:rPr lang="en-US" altLang="en-US" sz="1800" dirty="0">
                <a:latin typeface="Arial" panose="020B0604020202020204" pitchFamily="34" charset="0"/>
                <a:cs typeface="Arial" panose="020B0604020202020204" pitchFamily="34" charset="0"/>
              </a:rPr>
              <a:t>;               /* swaps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     long    </a:t>
            </a:r>
            <a:r>
              <a:rPr lang="en-US" altLang="en-US" sz="1800" dirty="0" err="1">
                <a:latin typeface="Arial" panose="020B0604020202020204" pitchFamily="34" charset="0"/>
                <a:cs typeface="Arial" panose="020B0604020202020204" pitchFamily="34" charset="0"/>
              </a:rPr>
              <a:t>ru_inblock</a:t>
            </a:r>
            <a:r>
              <a:rPr lang="en-US" altLang="en-US" sz="1800" dirty="0">
                <a:latin typeface="Arial" panose="020B0604020202020204" pitchFamily="34" charset="0"/>
                <a:cs typeface="Arial" panose="020B0604020202020204" pitchFamily="34" charset="0"/>
              </a:rPr>
              <a:t>;             /* block input operations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     long    </a:t>
            </a:r>
            <a:r>
              <a:rPr lang="en-US" altLang="en-US" sz="1800" dirty="0" err="1">
                <a:latin typeface="Arial" panose="020B0604020202020204" pitchFamily="34" charset="0"/>
                <a:cs typeface="Arial" panose="020B0604020202020204" pitchFamily="34" charset="0"/>
              </a:rPr>
              <a:t>ru_oublock</a:t>
            </a:r>
            <a:r>
              <a:rPr lang="en-US" altLang="en-US" sz="1800" dirty="0">
                <a:latin typeface="Arial" panose="020B0604020202020204" pitchFamily="34" charset="0"/>
                <a:cs typeface="Arial" panose="020B0604020202020204" pitchFamily="34" charset="0"/>
              </a:rPr>
              <a:t>;             /* block output operations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     long    </a:t>
            </a:r>
            <a:r>
              <a:rPr lang="en-US" altLang="en-US" sz="1800" dirty="0" err="1">
                <a:latin typeface="Arial" panose="020B0604020202020204" pitchFamily="34" charset="0"/>
                <a:cs typeface="Arial" panose="020B0604020202020204" pitchFamily="34" charset="0"/>
              </a:rPr>
              <a:t>ru_msgsnd</a:t>
            </a:r>
            <a:r>
              <a:rPr lang="en-US" altLang="en-US" sz="1800" dirty="0">
                <a:latin typeface="Arial" panose="020B0604020202020204" pitchFamily="34" charset="0"/>
                <a:cs typeface="Arial" panose="020B0604020202020204" pitchFamily="34" charset="0"/>
              </a:rPr>
              <a:t>;              /* messages sent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     long    </a:t>
            </a:r>
            <a:r>
              <a:rPr lang="en-US" altLang="en-US" sz="1800" dirty="0" err="1">
                <a:latin typeface="Arial" panose="020B0604020202020204" pitchFamily="34" charset="0"/>
                <a:cs typeface="Arial" panose="020B0604020202020204" pitchFamily="34" charset="0"/>
              </a:rPr>
              <a:t>ru_msgrcv</a:t>
            </a:r>
            <a:r>
              <a:rPr lang="en-US" altLang="en-US" sz="1800" dirty="0">
                <a:latin typeface="Arial" panose="020B0604020202020204" pitchFamily="34" charset="0"/>
                <a:cs typeface="Arial" panose="020B0604020202020204" pitchFamily="34" charset="0"/>
              </a:rPr>
              <a:t>;              /* messages received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     long    </a:t>
            </a:r>
            <a:r>
              <a:rPr lang="en-US" altLang="en-US" sz="1800" dirty="0" err="1">
                <a:latin typeface="Arial" panose="020B0604020202020204" pitchFamily="34" charset="0"/>
                <a:cs typeface="Arial" panose="020B0604020202020204" pitchFamily="34" charset="0"/>
              </a:rPr>
              <a:t>ru_nsignals</a:t>
            </a:r>
            <a:r>
              <a:rPr lang="en-US" altLang="en-US" sz="1800" dirty="0">
                <a:latin typeface="Arial" panose="020B0604020202020204" pitchFamily="34" charset="0"/>
                <a:cs typeface="Arial" panose="020B0604020202020204" pitchFamily="34" charset="0"/>
              </a:rPr>
              <a:t>;            /* signals received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     long    </a:t>
            </a:r>
            <a:r>
              <a:rPr lang="en-US" altLang="en-US" sz="1800" dirty="0" err="1">
                <a:latin typeface="Arial" panose="020B0604020202020204" pitchFamily="34" charset="0"/>
                <a:cs typeface="Arial" panose="020B0604020202020204" pitchFamily="34" charset="0"/>
              </a:rPr>
              <a:t>ru_nvcsw</a:t>
            </a:r>
            <a:r>
              <a:rPr lang="en-US" altLang="en-US" sz="1800" dirty="0">
                <a:latin typeface="Arial" panose="020B0604020202020204" pitchFamily="34" charset="0"/>
                <a:cs typeface="Arial" panose="020B0604020202020204" pitchFamily="34" charset="0"/>
              </a:rPr>
              <a:t>;               /* voluntary context switches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     long    </a:t>
            </a:r>
            <a:r>
              <a:rPr lang="en-US" altLang="en-US" sz="1800" dirty="0" err="1">
                <a:latin typeface="Arial" panose="020B0604020202020204" pitchFamily="34" charset="0"/>
                <a:cs typeface="Arial" panose="020B0604020202020204" pitchFamily="34" charset="0"/>
              </a:rPr>
              <a:t>ru_nivcsw</a:t>
            </a:r>
            <a:r>
              <a:rPr lang="en-US" altLang="en-US" sz="1800" dirty="0">
                <a:latin typeface="Arial" panose="020B0604020202020204" pitchFamily="34" charset="0"/>
                <a:cs typeface="Arial" panose="020B0604020202020204" pitchFamily="34" charset="0"/>
              </a:rPr>
              <a:t>;              /* involuntary "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a:t>
            </a:r>
          </a:p>
          <a:p>
            <a:pPr marL="342900" indent="-342900" algn="just">
              <a:lnSpc>
                <a:spcPct val="100000"/>
              </a:lnSpc>
              <a:spcBef>
                <a:spcPts val="0"/>
              </a:spcBef>
              <a:buFont typeface="Arial" panose="020B0604020202020204" pitchFamily="34" charset="0"/>
              <a:buChar char="•"/>
            </a:pPr>
            <a:endParaRPr lang="en-US" altLang="en-US" sz="2000" dirty="0">
              <a:latin typeface="Arial" panose="020B0604020202020204" pitchFamily="34" charset="0"/>
              <a:cs typeface="Arial" panose="020B0604020202020204" pitchFamily="34" charset="0"/>
            </a:endParaRPr>
          </a:p>
          <a:p>
            <a:pPr marL="285750" indent="-285750" algn="just">
              <a:lnSpc>
                <a:spcPct val="100000"/>
              </a:lnSpc>
              <a:spcBef>
                <a:spcPts val="0"/>
              </a:spcBef>
              <a:buFont typeface="Wingdings" panose="05000000000000000000" pitchFamily="2" charset="2"/>
              <a:buChar char="§"/>
            </a:pP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9033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D54D1-69FB-5E05-302B-EE70B4C06A84}"/>
            </a:ext>
          </a:extLst>
        </p:cNvPr>
        <p:cNvGrpSpPr/>
        <p:nvPr/>
      </p:nvGrpSpPr>
      <p:grpSpPr>
        <a:xfrm>
          <a:off x="0" y="0"/>
          <a:ext cx="0" cy="0"/>
          <a:chOff x="0" y="0"/>
          <a:chExt cx="0" cy="0"/>
        </a:xfrm>
      </p:grpSpPr>
      <p:sp>
        <p:nvSpPr>
          <p:cNvPr id="4" name="Rectangle 7">
            <a:extLst>
              <a:ext uri="{FF2B5EF4-FFF2-40B4-BE49-F238E27FC236}">
                <a16:creationId xmlns:a16="http://schemas.microsoft.com/office/drawing/2014/main" id="{FD260A8C-31E6-6FC2-0ED1-894DE395DAC4}"/>
              </a:ext>
            </a:extLst>
          </p:cNvPr>
          <p:cNvSpPr txBox="1">
            <a:spLocks noChangeArrowheads="1"/>
          </p:cNvSpPr>
          <p:nvPr/>
        </p:nvSpPr>
        <p:spPr>
          <a:xfrm>
            <a:off x="720000" y="1079999"/>
            <a:ext cx="10800000" cy="54000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altLang="en-US" sz="3000" dirty="0">
              <a:latin typeface="Arial" panose="020B0604020202020204" pitchFamily="34" charset="0"/>
              <a:cs typeface="Arial" panose="020B0604020202020204" pitchFamily="34" charset="0"/>
            </a:endParaRPr>
          </a:p>
        </p:txBody>
      </p:sp>
      <p:sp>
        <p:nvSpPr>
          <p:cNvPr id="5" name="Rectangle 6">
            <a:extLst>
              <a:ext uri="{FF2B5EF4-FFF2-40B4-BE49-F238E27FC236}">
                <a16:creationId xmlns:a16="http://schemas.microsoft.com/office/drawing/2014/main" id="{227E541B-939C-E0FA-07FD-C01AE679EF25}"/>
              </a:ext>
            </a:extLst>
          </p:cNvPr>
          <p:cNvSpPr txBox="1">
            <a:spLocks noChangeArrowheads="1"/>
          </p:cNvSpPr>
          <p:nvPr/>
        </p:nvSpPr>
        <p:spPr>
          <a:xfrm>
            <a:off x="720000" y="359999"/>
            <a:ext cx="10800000" cy="7200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4000" dirty="0">
                <a:latin typeface="Arial" panose="020B0604020202020204" pitchFamily="34" charset="0"/>
                <a:cs typeface="Arial" panose="020B0604020202020204" pitchFamily="34" charset="0"/>
              </a:rPr>
              <a:t>Unix Systems Programming</a:t>
            </a:r>
          </a:p>
          <a:p>
            <a:r>
              <a:rPr lang="en-US" altLang="en-US" sz="4000" dirty="0">
                <a:latin typeface="Arial" panose="020B0604020202020204" pitchFamily="34" charset="0"/>
                <a:cs typeface="Arial" panose="020B0604020202020204" pitchFamily="34" charset="0"/>
              </a:rPr>
              <a:t>Introduction</a:t>
            </a:r>
          </a:p>
        </p:txBody>
      </p:sp>
      <p:sp>
        <p:nvSpPr>
          <p:cNvPr id="6" name="Rectangle 7">
            <a:extLst>
              <a:ext uri="{FF2B5EF4-FFF2-40B4-BE49-F238E27FC236}">
                <a16:creationId xmlns:a16="http://schemas.microsoft.com/office/drawing/2014/main" id="{46E2AE17-6FA1-63FA-FC99-75B5892698D6}"/>
              </a:ext>
            </a:extLst>
          </p:cNvPr>
          <p:cNvSpPr txBox="1">
            <a:spLocks noChangeArrowheads="1"/>
          </p:cNvSpPr>
          <p:nvPr/>
        </p:nvSpPr>
        <p:spPr>
          <a:xfrm>
            <a:off x="720000" y="899023"/>
            <a:ext cx="11129100" cy="599707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lnSpc>
                <a:spcPct val="100000"/>
              </a:lnSpc>
              <a:spcBef>
                <a:spcPts val="0"/>
              </a:spcBef>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System resource limits are also defined in &lt;sys/</a:t>
            </a:r>
            <a:r>
              <a:rPr lang="en-US" altLang="en-US" sz="2000" dirty="0" err="1">
                <a:latin typeface="Arial" panose="020B0604020202020204" pitchFamily="34" charset="0"/>
                <a:cs typeface="Arial" panose="020B0604020202020204" pitchFamily="34" charset="0"/>
              </a:rPr>
              <a:t>resource.h</a:t>
            </a:r>
            <a:r>
              <a:rPr lang="en-US" altLang="en-US" sz="2000" dirty="0">
                <a:latin typeface="Arial" panose="020B0604020202020204" pitchFamily="34" charset="0"/>
                <a:cs typeface="Arial" panose="020B0604020202020204" pitchFamily="34" charset="0"/>
              </a:rPr>
              <a:t>&gt;</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struct </a:t>
            </a:r>
            <a:r>
              <a:rPr lang="en-US" altLang="en-US" sz="1800" dirty="0" err="1">
                <a:latin typeface="Arial" panose="020B0604020202020204" pitchFamily="34" charset="0"/>
                <a:cs typeface="Arial" panose="020B0604020202020204" pitchFamily="34" charset="0"/>
              </a:rPr>
              <a:t>rlimit</a:t>
            </a:r>
            <a:r>
              <a:rPr lang="en-US" altLang="en-US" sz="1800" dirty="0">
                <a:latin typeface="Arial" panose="020B0604020202020204" pitchFamily="34" charset="0"/>
                <a:cs typeface="Arial" panose="020B0604020202020204" pitchFamily="34" charset="0"/>
              </a:rPr>
              <a:t> {</a:t>
            </a:r>
          </a:p>
          <a:p>
            <a:pPr lvl="2" algn="just">
              <a:lnSpc>
                <a:spcPct val="100000"/>
              </a:lnSpc>
              <a:spcBef>
                <a:spcPts val="0"/>
              </a:spcBef>
            </a:pPr>
            <a:r>
              <a:rPr lang="en-US" altLang="en-US" dirty="0" err="1">
                <a:latin typeface="Arial" panose="020B0604020202020204" pitchFamily="34" charset="0"/>
                <a:cs typeface="Arial" panose="020B0604020202020204" pitchFamily="34" charset="0"/>
              </a:rPr>
              <a:t>rlim_t</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rlim_cur</a:t>
            </a:r>
            <a:r>
              <a:rPr lang="en-US" altLang="en-US" dirty="0">
                <a:latin typeface="Arial" panose="020B0604020202020204" pitchFamily="34" charset="0"/>
                <a:cs typeface="Arial" panose="020B0604020202020204" pitchFamily="34" charset="0"/>
              </a:rPr>
              <a:t>;               /* current (soft) limit */</a:t>
            </a:r>
          </a:p>
          <a:p>
            <a:pPr lvl="2" algn="just">
              <a:lnSpc>
                <a:spcPct val="100000"/>
              </a:lnSpc>
              <a:spcBef>
                <a:spcPts val="0"/>
              </a:spcBef>
            </a:pPr>
            <a:r>
              <a:rPr lang="en-US" altLang="en-US" dirty="0" err="1">
                <a:latin typeface="Arial" panose="020B0604020202020204" pitchFamily="34" charset="0"/>
                <a:cs typeface="Arial" panose="020B0604020202020204" pitchFamily="34" charset="0"/>
              </a:rPr>
              <a:t>rlim_t</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rlim_max</a:t>
            </a:r>
            <a:r>
              <a:rPr lang="en-US" altLang="en-US" dirty="0">
                <a:latin typeface="Arial" panose="020B0604020202020204" pitchFamily="34" charset="0"/>
                <a:cs typeface="Arial" panose="020B0604020202020204" pitchFamily="34" charset="0"/>
              </a:rPr>
              <a:t>;               /* maximum value for </a:t>
            </a:r>
            <a:r>
              <a:rPr lang="en-US" altLang="en-US" dirty="0" err="1">
                <a:latin typeface="Arial" panose="020B0604020202020204" pitchFamily="34" charset="0"/>
                <a:cs typeface="Arial" panose="020B0604020202020204" pitchFamily="34" charset="0"/>
              </a:rPr>
              <a:t>rlim_cur</a:t>
            </a:r>
            <a:r>
              <a:rPr lang="en-US" altLang="en-US" dirty="0">
                <a:latin typeface="Arial" panose="020B0604020202020204" pitchFamily="34" charset="0"/>
                <a:cs typeface="Arial" panose="020B0604020202020204" pitchFamily="34" charset="0"/>
              </a:rPr>
              <a:t>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#define RLIMIT_CPU      0               /* </a:t>
            </a:r>
            <a:r>
              <a:rPr lang="en-US" altLang="en-US" sz="1800" dirty="0" err="1">
                <a:latin typeface="Arial" panose="020B0604020202020204" pitchFamily="34" charset="0"/>
                <a:cs typeface="Arial" panose="020B0604020202020204" pitchFamily="34" charset="0"/>
              </a:rPr>
              <a:t>cpu</a:t>
            </a:r>
            <a:r>
              <a:rPr lang="en-US" altLang="en-US" sz="1800" dirty="0">
                <a:latin typeface="Arial" panose="020B0604020202020204" pitchFamily="34" charset="0"/>
                <a:cs typeface="Arial" panose="020B0604020202020204" pitchFamily="34" charset="0"/>
              </a:rPr>
              <a:t> time in milliseconds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#define RLIMIT_FSIZE    1               /* maximum file size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#define RLIMIT_DATA     2               /* data size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#define RLIMIT_STACK    3               /* stack size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#define RLIMIT_CORE     4               /* core file size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#define RLIMIT_RSS      5               /* resident set size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#define RLIMIT_MEMLOCK  6               /* locked-in-memory address space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#define RLIMIT_NPROC    7               /* number of processes */</a:t>
            </a:r>
          </a:p>
          <a:p>
            <a:pPr lvl="1" algn="just">
              <a:lnSpc>
                <a:spcPct val="100000"/>
              </a:lnSpc>
              <a:spcBef>
                <a:spcPts val="0"/>
              </a:spcBef>
            </a:pPr>
            <a:r>
              <a:rPr lang="en-US" altLang="en-US" sz="1800" dirty="0">
                <a:latin typeface="Arial" panose="020B0604020202020204" pitchFamily="34" charset="0"/>
                <a:cs typeface="Arial" panose="020B0604020202020204" pitchFamily="34" charset="0"/>
              </a:rPr>
              <a:t>#define RLIMIT_NOFILE   8               /* number of open files */</a:t>
            </a:r>
            <a:endParaRPr lang="en-US" altLang="en-US" sz="2000" dirty="0">
              <a:latin typeface="Arial" panose="020B0604020202020204" pitchFamily="34" charset="0"/>
              <a:cs typeface="Arial" panose="020B0604020202020204" pitchFamily="34" charset="0"/>
            </a:endParaRPr>
          </a:p>
          <a:p>
            <a:pPr marL="285750" indent="-285750" algn="just">
              <a:lnSpc>
                <a:spcPct val="100000"/>
              </a:lnSpc>
              <a:spcBef>
                <a:spcPts val="0"/>
              </a:spcBef>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Use system calls </a:t>
            </a:r>
            <a:r>
              <a:rPr lang="en-US" altLang="en-US" sz="2000" dirty="0" err="1">
                <a:latin typeface="Arial" panose="020B0604020202020204" pitchFamily="34" charset="0"/>
                <a:cs typeface="Arial" panose="020B0604020202020204" pitchFamily="34" charset="0"/>
              </a:rPr>
              <a:t>getrlimit</a:t>
            </a:r>
            <a:r>
              <a:rPr lang="en-US" altLang="en-US" sz="2000" dirty="0">
                <a:latin typeface="Arial" panose="020B0604020202020204" pitchFamily="34" charset="0"/>
                <a:cs typeface="Arial" panose="020B0604020202020204" pitchFamily="34" charset="0"/>
              </a:rPr>
              <a:t>() &amp; </a:t>
            </a:r>
            <a:r>
              <a:rPr lang="en-US" altLang="en-US" sz="2000" dirty="0" err="1">
                <a:latin typeface="Arial" panose="020B0604020202020204" pitchFamily="34" charset="0"/>
                <a:cs typeface="Arial" panose="020B0604020202020204" pitchFamily="34" charset="0"/>
              </a:rPr>
              <a:t>setrlimit</a:t>
            </a:r>
            <a:r>
              <a:rPr lang="en-US" altLang="en-US" sz="2000" dirty="0">
                <a:latin typeface="Arial" panose="020B0604020202020204" pitchFamily="34" charset="0"/>
                <a:cs typeface="Arial" panose="020B0604020202020204" pitchFamily="34" charset="0"/>
              </a:rPr>
              <a:t>() in C and </a:t>
            </a:r>
            <a:r>
              <a:rPr lang="en-US" altLang="en-US" sz="2000" dirty="0" err="1">
                <a:latin typeface="Arial" panose="020B0604020202020204" pitchFamily="34" charset="0"/>
                <a:cs typeface="Arial" panose="020B0604020202020204" pitchFamily="34" charset="0"/>
              </a:rPr>
              <a:t>ulimit</a:t>
            </a:r>
            <a:r>
              <a:rPr lang="en-US" altLang="en-US" sz="2000" dirty="0">
                <a:latin typeface="Arial" panose="020B0604020202020204" pitchFamily="34" charset="0"/>
                <a:cs typeface="Arial" panose="020B0604020202020204" pitchFamily="34" charset="0"/>
              </a:rPr>
              <a:t> command to get/set the resource limits.</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struct </a:t>
            </a:r>
            <a:r>
              <a:rPr lang="en-US" altLang="en-US" sz="1800" dirty="0" err="1">
                <a:latin typeface="Arial" panose="020B0604020202020204" pitchFamily="34" charset="0"/>
                <a:cs typeface="Arial" panose="020B0604020202020204" pitchFamily="34" charset="0"/>
              </a:rPr>
              <a:t>rlimit</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rl</a:t>
            </a:r>
            <a:r>
              <a:rPr lang="en-US" altLang="en-US" sz="1800" dirty="0">
                <a:latin typeface="Arial" panose="020B0604020202020204" pitchFamily="34" charset="0"/>
                <a:cs typeface="Arial" panose="020B0604020202020204" pitchFamily="34" charset="0"/>
              </a:rPr>
              <a:t>; result = </a:t>
            </a:r>
            <a:r>
              <a:rPr lang="en-US" altLang="en-US" sz="1800" dirty="0" err="1">
                <a:latin typeface="Arial" panose="020B0604020202020204" pitchFamily="34" charset="0"/>
                <a:cs typeface="Arial" panose="020B0604020202020204" pitchFamily="34" charset="0"/>
              </a:rPr>
              <a:t>getrlimit</a:t>
            </a:r>
            <a:r>
              <a:rPr lang="en-US" altLang="en-US" sz="1800" dirty="0">
                <a:latin typeface="Arial" panose="020B0604020202020204" pitchFamily="34" charset="0"/>
                <a:cs typeface="Arial" panose="020B0604020202020204" pitchFamily="34" charset="0"/>
              </a:rPr>
              <a:t>(RLIMIT_STACK, &amp;</a:t>
            </a:r>
            <a:r>
              <a:rPr lang="en-US" altLang="en-US" sz="1800" dirty="0" err="1">
                <a:latin typeface="Arial" panose="020B0604020202020204" pitchFamily="34" charset="0"/>
                <a:cs typeface="Arial" panose="020B0604020202020204" pitchFamily="34" charset="0"/>
              </a:rPr>
              <a:t>rl</a:t>
            </a:r>
            <a:r>
              <a:rPr lang="en-US" altLang="en-US" sz="1800" dirty="0">
                <a:latin typeface="Arial" panose="020B0604020202020204" pitchFamily="34" charset="0"/>
                <a:cs typeface="Arial" panose="020B0604020202020204" pitchFamily="34" charset="0"/>
              </a:rPr>
              <a:t>);</a:t>
            </a:r>
          </a:p>
          <a:p>
            <a:pPr marL="720000" indent="-342900" algn="just">
              <a:lnSpc>
                <a:spcPct val="100000"/>
              </a:lnSpc>
              <a:spcBef>
                <a:spcPts val="0"/>
              </a:spcBef>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struct </a:t>
            </a:r>
            <a:r>
              <a:rPr lang="en-US" altLang="en-US" sz="1800" dirty="0" err="1">
                <a:latin typeface="Arial" panose="020B0604020202020204" pitchFamily="34" charset="0"/>
                <a:cs typeface="Arial" panose="020B0604020202020204" pitchFamily="34" charset="0"/>
              </a:rPr>
              <a:t>rlimit</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rl</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rl.rlim_cur</a:t>
            </a:r>
            <a:r>
              <a:rPr lang="en-US" altLang="en-US" sz="1800" dirty="0">
                <a:latin typeface="Arial" panose="020B0604020202020204" pitchFamily="34" charset="0"/>
                <a:cs typeface="Arial" panose="020B0604020202020204" pitchFamily="34" charset="0"/>
              </a:rPr>
              <a:t> = 64L * 1024L * 1024L; result = </a:t>
            </a:r>
            <a:r>
              <a:rPr lang="en-US" altLang="en-US" sz="1800" dirty="0" err="1">
                <a:latin typeface="Arial" panose="020B0604020202020204" pitchFamily="34" charset="0"/>
                <a:cs typeface="Arial" panose="020B0604020202020204" pitchFamily="34" charset="0"/>
              </a:rPr>
              <a:t>setrlimit</a:t>
            </a:r>
            <a:r>
              <a:rPr lang="en-US" altLang="en-US" sz="1800" dirty="0">
                <a:latin typeface="Arial" panose="020B0604020202020204" pitchFamily="34" charset="0"/>
                <a:cs typeface="Arial" panose="020B0604020202020204" pitchFamily="34" charset="0"/>
              </a:rPr>
              <a:t>(RLIMIT_STACK, &amp;</a:t>
            </a:r>
            <a:r>
              <a:rPr lang="en-US" altLang="en-US" sz="1800" dirty="0" err="1">
                <a:latin typeface="Arial" panose="020B0604020202020204" pitchFamily="34" charset="0"/>
                <a:cs typeface="Arial" panose="020B0604020202020204" pitchFamily="34" charset="0"/>
              </a:rPr>
              <a:t>rl</a:t>
            </a:r>
            <a:r>
              <a:rPr lang="en-US" altLang="en-US" sz="1800" dirty="0">
                <a:latin typeface="Arial" panose="020B0604020202020204" pitchFamily="34" charset="0"/>
                <a:cs typeface="Arial" panose="020B0604020202020204" pitchFamily="34" charset="0"/>
              </a:rPr>
              <a:t>);</a:t>
            </a:r>
          </a:p>
          <a:p>
            <a:pPr marL="720000" lvl="1" indent="-342900" algn="just">
              <a:lnSpc>
                <a:spcPct val="100000"/>
              </a:lnSpc>
              <a:spcBef>
                <a:spcPts val="0"/>
              </a:spcBef>
              <a:buFont typeface="Arial" panose="020B0604020202020204" pitchFamily="34" charset="0"/>
              <a:buChar char="–"/>
            </a:pPr>
            <a:r>
              <a:rPr lang="en-US" altLang="en-US" sz="1800" dirty="0" err="1">
                <a:latin typeface="Arial" panose="020B0604020202020204" pitchFamily="34" charset="0"/>
                <a:cs typeface="Arial" panose="020B0604020202020204" pitchFamily="34" charset="0"/>
              </a:rPr>
              <a:t>ulimit</a:t>
            </a:r>
            <a:r>
              <a:rPr lang="en-US" altLang="en-US" sz="1800" dirty="0">
                <a:latin typeface="Arial" panose="020B0604020202020204" pitchFamily="34" charset="0"/>
                <a:cs typeface="Arial" panose="020B0604020202020204" pitchFamily="34" charset="0"/>
              </a:rPr>
              <a:t> –a</a:t>
            </a:r>
          </a:p>
          <a:p>
            <a:pPr marL="720000" lvl="1" indent="-342900" algn="just">
              <a:lnSpc>
                <a:spcPct val="100000"/>
              </a:lnSpc>
              <a:spcBef>
                <a:spcPts val="0"/>
              </a:spcBef>
              <a:buFont typeface="Arial" panose="020B0604020202020204" pitchFamily="34" charset="0"/>
              <a:buChar char="–"/>
            </a:pPr>
            <a:r>
              <a:rPr lang="en-US" altLang="en-US" sz="1800" dirty="0" err="1">
                <a:latin typeface="Arial" panose="020B0604020202020204" pitchFamily="34" charset="0"/>
                <a:cs typeface="Arial" panose="020B0604020202020204" pitchFamily="34" charset="0"/>
              </a:rPr>
              <a:t>ulimit</a:t>
            </a:r>
            <a:r>
              <a:rPr lang="en-US" altLang="en-US" sz="1800" dirty="0">
                <a:latin typeface="Arial" panose="020B0604020202020204" pitchFamily="34" charset="0"/>
                <a:cs typeface="Arial" panose="020B0604020202020204" pitchFamily="34" charset="0"/>
              </a:rPr>
              <a:t> –s</a:t>
            </a:r>
          </a:p>
          <a:p>
            <a:pPr marL="720000" lvl="1" indent="-342900" algn="just">
              <a:lnSpc>
                <a:spcPct val="100000"/>
              </a:lnSpc>
              <a:spcBef>
                <a:spcPts val="0"/>
              </a:spcBef>
              <a:buFont typeface="Arial" panose="020B0604020202020204" pitchFamily="34" charset="0"/>
              <a:buChar char="–"/>
            </a:pPr>
            <a:r>
              <a:rPr lang="en-US" altLang="en-US" sz="1800" dirty="0" err="1">
                <a:latin typeface="Arial" panose="020B0604020202020204" pitchFamily="34" charset="0"/>
                <a:cs typeface="Arial" panose="020B0604020202020204" pitchFamily="34" charset="0"/>
              </a:rPr>
              <a:t>ulimit</a:t>
            </a:r>
            <a:r>
              <a:rPr lang="en-US" altLang="en-US" sz="1800" dirty="0">
                <a:latin typeface="Arial" panose="020B0604020202020204" pitchFamily="34" charset="0"/>
                <a:cs typeface="Arial" panose="020B0604020202020204" pitchFamily="34" charset="0"/>
              </a:rPr>
              <a:t> –s 512</a:t>
            </a:r>
          </a:p>
          <a:p>
            <a:pPr marL="720000" lvl="1" indent="-342900" algn="just">
              <a:lnSpc>
                <a:spcPct val="100000"/>
              </a:lnSpc>
              <a:spcBef>
                <a:spcPts val="0"/>
              </a:spcBef>
              <a:buFont typeface="Arial" panose="020B0604020202020204" pitchFamily="34" charset="0"/>
              <a:buChar char="–"/>
            </a:pPr>
            <a:r>
              <a:rPr lang="en-US" altLang="en-US" sz="1800" dirty="0" err="1">
                <a:latin typeface="Arial" panose="020B0604020202020204" pitchFamily="34" charset="0"/>
                <a:cs typeface="Arial" panose="020B0604020202020204" pitchFamily="34" charset="0"/>
              </a:rPr>
              <a:t>ulimit</a:t>
            </a:r>
            <a:r>
              <a:rPr lang="en-US" altLang="en-US" sz="1800" dirty="0">
                <a:latin typeface="Arial" panose="020B0604020202020204" pitchFamily="34" charset="0"/>
                <a:cs typeface="Arial" panose="020B0604020202020204" pitchFamily="34" charset="0"/>
              </a:rPr>
              <a:t> –f unlimited</a:t>
            </a:r>
          </a:p>
          <a:p>
            <a:pPr marL="285750" indent="-285750" algn="just">
              <a:lnSpc>
                <a:spcPct val="100000"/>
              </a:lnSpc>
              <a:spcBef>
                <a:spcPts val="0"/>
              </a:spcBef>
              <a:buFont typeface="Wingdings" panose="05000000000000000000" pitchFamily="2" charset="2"/>
              <a:buChar char="§"/>
            </a:pP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171597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713</TotalTime>
  <Words>1736</Words>
  <Application>Microsoft Office PowerPoint</Application>
  <PresentationFormat>Widescreen</PresentationFormat>
  <Paragraphs>176</Paragraphs>
  <Slides>12</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Arial</vt:lpstr>
      <vt:lpstr>Script MT Bold</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Subhendu Bhadra</dc:creator>
  <cp:lastModifiedBy>Sharmistha Bhadra</cp:lastModifiedBy>
  <cp:revision>318</cp:revision>
  <dcterms:created xsi:type="dcterms:W3CDTF">2023-10-26T18:08:32Z</dcterms:created>
  <dcterms:modified xsi:type="dcterms:W3CDTF">2025-11-24T07:04:09Z</dcterms:modified>
</cp:coreProperties>
</file>